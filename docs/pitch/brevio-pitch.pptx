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Say:</a:t>
            </a:r>
          </a:p>
          <a:p>
            <a:r>
              <a:t>A thirty-minute lecture goes in. A forty-second video comes out, written for the audience you choose and approved by a person before anyone sees it. This is Brevio Studio.</a:t>
            </a:r>
          </a:p>
          <a:p/>
          <a:p>
            <a:r>
              <a:t>On screen: a 30:00 lecture bar condenses into a roughly 40 s short video; the title lands on the last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[0:12–0:44] Say:</a:t>
            </a:r>
          </a:p>
          <a:p>
            <a:r>
              <a:t>Universities and training teams record hours of expert knowledge, then struggle to get anyone to watch it. A study of six point nine million video sessions found that shorter videos are much more engaging. Marketers say the sweet spot is thirty seconds to two minutes. But cutting highlights by hand is slow, and fully automatic clippers chase virality, not accuracy. Ninety percent of viewers worry that AI content may be wrong. Teams are stuck between slow and untrustworthy.</a:t>
            </a:r>
          </a:p>
          <a:p/>
          <a:p>
            <a:r>
              <a:t>On screen: three stat cards, then the two failure modes, then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[0:44–0:52] Say:</a:t>
            </a:r>
          </a:p>
          <a:p>
            <a:r>
              <a:t>Brevio works in four steps. First, choose the lecture and the audience: researchers, the general public, or kids.</a:t>
            </a:r>
          </a:p>
          <a:p/>
          <a:p>
            <a:r>
              <a:t>Say the next line of narration while moving to slides 4 and 5, which show the real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[0:53–1:02] Say:</a:t>
            </a:r>
          </a:p>
          <a:p>
            <a:r>
              <a:t>Second, it transcribes on your own computer, finds the strongest clips, and plans the story before writing a word: the opening, the bridges, and the ending.</a:t>
            </a:r>
          </a:p>
          <a:p/>
          <a:p>
            <a:r>
              <a:t>On screen: the real UI. Point at the audience picker, then the blueprint panel.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[1:02–1:29] Say:</a:t>
            </a:r>
          </a:p>
          <a:p>
            <a:r>
              <a:t>Third, it builds a narrated preview with captions, music and illustrations, and every section sits beside its source evidence. A named reviewer must approve it. Fourth, export. Every export gets a technical check on media, captions and loudness, and a structure check that asks one question: does the finished story follow the plan? Plan, build, check, approve. Nothing is published automatically.</a:t>
            </a:r>
          </a:p>
          <a:p/>
          <a:p>
            <a:r>
              <a:t>On screen: Studio preview, the named-reviewer approval, then the export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[1:29–2:12] Say:</a:t>
            </a:r>
          </a:p>
          <a:p>
            <a:r>
              <a:t>Who needs this? University teaching and communications teams, corporate learning and development, and research communicators. They sit in a fast-growing market. AI video generation is estimated at seven hundred and eighty-nine million dollars in twenty twenty-five, heading for three point four billion by twenty thirty-three. And sixty-three percent of video marketers already use AI to make or edit video. Existing tools cover pieces of the job: OpusClip chases viral clips, Descript edits by text, Synthesia generates presenters. In our review, none is built around source-grounded, human-approved learning video.</a:t>
            </a:r>
          </a:p>
          <a:p/>
          <a:p>
            <a:r>
              <a:t>On screen: three target users, market growth, then the landscape 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[2:12–2:38] Say:</a:t>
            </a:r>
          </a:p>
          <a:p>
            <a:r>
              <a:t>Our value proposition is simple: faster highlights, consistent quality, and a human in control. In our test run, a fifteen-minute lecture took about five minutes of local processing, before human review. Every export is checked against its plan and fourteen technical measures. And since most viewers still prefer a human speaker, Brevio keeps the expert's own voice and words at the centre.</a:t>
            </a:r>
          </a:p>
          <a:p/>
          <a:p>
            <a:r>
              <a:t>On screen: three pillars; each number appears with its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[2:38–3:07] Say:</a:t>
            </a:r>
          </a:p>
          <a:p>
            <a:r>
              <a:t>Is it feasible? It already runs end to end. On a fifteen-minute test lecture, transcription, clip selection, ranking and preview took under five minutes on a laptop. Runs for all three audiences produced high-definition videos between thirty-eight and forty-six seconds that passed fourteen technical checks. Transcription, voices and rendering stay on the machine. Only short text requests go to a cloud gateway, capped at five per run.</a:t>
            </a:r>
          </a:p>
          <a:p/>
          <a:p>
            <a:r>
              <a:t>On screen: measured stage times, three results, then the local versus cloud split.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[3:08–3:35] Say:</a:t>
            </a:r>
          </a:p>
          <a:p>
            <a:r>
              <a:t>We are candid about the risks. Model summaries can be wrong, so every claim is tied to a quote and a person must approve. Caption reading speed on original lecture excerpts failed our check, and some older renderer tests still fail. Both are on the fix list. We have not run a user trial, so we claim no time savings yet. And we use only lectures with clear reuse rights, and we disclose the synthetic voice.</a:t>
            </a:r>
          </a:p>
          <a:p/>
          <a:p>
            <a:r>
              <a:t>Say the failures plainly; they are in the checks, not hidden.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[3:35–4:02] Say:</a:t>
            </a:r>
          </a:p>
          <a:p>
            <a:r>
              <a:t>Here is the ask. Funding bodies: co-fund a six-month supervised pilot; eligible work may qualify for the R and D Tax Incentive. Industry partners: bring two or three real lectures. Investors: a small seed to move from proof of concept to pilots. Together we will measure time saved, reviewer approvals, and audience understanding. Try Brevio on one lecture.</a:t>
            </a:r>
          </a:p>
          <a:p/>
          <a:p>
            <a:r>
              <a:t>Close on the last line and stop; do not add new claims.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only; not part of the 4-minute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01 · HOOK</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0:00–0:12</a:t>
            </a:r>
          </a:p>
        </p:txBody>
      </p:sp>
      <p:sp>
        <p:nvSpPr>
          <p:cNvPr id="5" name="TextBox 4"/>
          <p:cNvSpPr txBox="1"/>
          <p:nvPr/>
        </p:nvSpPr>
        <p:spPr>
          <a:xfrm>
            <a:off x="822960" y="502920"/>
            <a:ext cx="7315200" cy="365760"/>
          </a:xfrm>
          <a:prstGeom prst="rect">
            <a:avLst/>
          </a:prstGeom>
          <a:noFill/>
        </p:spPr>
        <p:txBody>
          <a:bodyPr wrap="square" lIns="0" rIns="0" tIns="0" bIns="0" anchor="t">
            <a:spAutoFit/>
          </a:bodyPr>
          <a:lstStyle/>
          <a:p>
            <a:pPr algn="l"/>
            <a:r>
              <a:rPr sz="2000" b="1" i="0">
                <a:solidFill>
                  <a:srgbClr val="202D28"/>
                </a:solidFill>
                <a:latin typeface="Calibri"/>
              </a:rPr>
              <a:t>30:00</a:t>
            </a:r>
            <a:r>
              <a:rPr sz="1600" b="0" i="0">
                <a:solidFill>
                  <a:srgbClr val="556760"/>
                </a:solidFill>
                <a:latin typeface="Calibri"/>
              </a:rPr>
              <a:t>   one lecture, 1,800 seconds</a:t>
            </a:r>
          </a:p>
        </p:txBody>
      </p:sp>
      <p:sp>
        <p:nvSpPr>
          <p:cNvPr id="6" name="Rectangle 5"/>
          <p:cNvSpPr/>
          <p:nvPr/>
        </p:nvSpPr>
        <p:spPr>
          <a:xfrm>
            <a:off x="822960" y="1440180"/>
            <a:ext cx="118872" cy="32004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 y="1196949"/>
            <a:ext cx="118872" cy="80650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2144" y="1257757"/>
            <a:ext cx="118872" cy="684885"/>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16736" y="1318564"/>
            <a:ext cx="118872" cy="56327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81328" y="1379372"/>
            <a:ext cx="118872" cy="441655"/>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19" y="1244727"/>
            <a:ext cx="118872" cy="71094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10512" y="1305534"/>
            <a:ext cx="118872" cy="58933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75104" y="1366342"/>
            <a:ext cx="118872" cy="467715"/>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39696" y="1427149"/>
            <a:ext cx="118872" cy="34610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04288" y="1183919"/>
            <a:ext cx="118872" cy="832561"/>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68879" y="1353312"/>
            <a:ext cx="118872" cy="493776"/>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33472" y="1414119"/>
            <a:ext cx="118872" cy="372160"/>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8064" y="1170889"/>
            <a:ext cx="118872" cy="858621"/>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62656" y="1231696"/>
            <a:ext cx="118872" cy="73700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27248" y="1292504"/>
            <a:ext cx="118872" cy="61539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91839" y="1157859"/>
            <a:ext cx="118872" cy="88468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56432" y="1218666"/>
            <a:ext cx="118872" cy="76306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21024" y="1279474"/>
            <a:ext cx="118872" cy="64145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85615" y="1340281"/>
            <a:ext cx="118872" cy="51983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50208" y="1401089"/>
            <a:ext cx="118872" cy="39822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0" y="1266444"/>
            <a:ext cx="118872" cy="667512"/>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9392" y="1327251"/>
            <a:ext cx="118872" cy="54589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43984" y="1388059"/>
            <a:ext cx="118872" cy="42428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08576" y="1144828"/>
            <a:ext cx="118872" cy="910742"/>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73168" y="1205636"/>
            <a:ext cx="118872" cy="789127"/>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37760" y="1375029"/>
            <a:ext cx="118872" cy="450341"/>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02352" y="1435836"/>
            <a:ext cx="118872" cy="328726"/>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66944" y="1192606"/>
            <a:ext cx="118872" cy="815187"/>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31536" y="1253413"/>
            <a:ext cx="118872" cy="693572"/>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96128" y="1314221"/>
            <a:ext cx="118872" cy="571957"/>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760720" y="1179576"/>
            <a:ext cx="118872" cy="841247"/>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25312" y="1240383"/>
            <a:ext cx="118872" cy="719632"/>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9904" y="1301191"/>
            <a:ext cx="118872" cy="598017"/>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54496" y="1361998"/>
            <a:ext cx="118872" cy="476402"/>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19088" y="1422806"/>
            <a:ext cx="118872" cy="354787"/>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0" y="1288161"/>
            <a:ext cx="118872" cy="624077"/>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748272" y="1348968"/>
            <a:ext cx="118872" cy="502462"/>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912864" y="1409776"/>
            <a:ext cx="118872" cy="380847"/>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77456" y="1166545"/>
            <a:ext cx="118872" cy="86730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42048" y="1227353"/>
            <a:ext cx="118872" cy="745693"/>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06640" y="1396746"/>
            <a:ext cx="118872" cy="406907"/>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71231" y="1153515"/>
            <a:ext cx="118872" cy="89336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35823" y="1214323"/>
            <a:ext cx="118872" cy="771753"/>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900415" y="1275130"/>
            <a:ext cx="118872" cy="65013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65008" y="1335938"/>
            <a:ext cx="118872" cy="528523"/>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229600" y="1201293"/>
            <a:ext cx="118872" cy="79781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1262100"/>
            <a:ext cx="118872" cy="67619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58784" y="1322908"/>
            <a:ext cx="118872" cy="554583"/>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23376" y="1383715"/>
            <a:ext cx="118872" cy="43296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887968" y="1140485"/>
            <a:ext cx="118872" cy="919429"/>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52560" y="1309878"/>
            <a:ext cx="118872" cy="58064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217152" y="1370685"/>
            <a:ext cx="118872" cy="459028"/>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381744" y="1431493"/>
            <a:ext cx="118872" cy="337413"/>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546336" y="1188262"/>
            <a:ext cx="118872" cy="823874"/>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710928" y="1249070"/>
            <a:ext cx="118872" cy="702259"/>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875520" y="1418463"/>
            <a:ext cx="118872" cy="363473"/>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040112" y="1175232"/>
            <a:ext cx="118872" cy="84993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04704" y="1236040"/>
            <a:ext cx="118872" cy="728319"/>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369296" y="1296847"/>
            <a:ext cx="118872" cy="60670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533888" y="1357655"/>
            <a:ext cx="118872" cy="485089"/>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698480" y="1223010"/>
            <a:ext cx="118872" cy="754380"/>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863072" y="1283817"/>
            <a:ext cx="118872" cy="63276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027664" y="1344625"/>
            <a:ext cx="118872" cy="511149"/>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1192256" y="1405432"/>
            <a:ext cx="118872" cy="389534"/>
          </a:xfrm>
          <a:prstGeom prst="rect">
            <a:avLst/>
          </a:prstGeom>
          <a:solidFill>
            <a:srgbClr val="B8C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2960" y="2514600"/>
            <a:ext cx="7315200" cy="365760"/>
          </a:xfrm>
          <a:prstGeom prst="rect">
            <a:avLst/>
          </a:prstGeom>
          <a:noFill/>
        </p:spPr>
        <p:txBody>
          <a:bodyPr wrap="square" lIns="0" rIns="0" tIns="0" bIns="0" anchor="t">
            <a:spAutoFit/>
          </a:bodyPr>
          <a:lstStyle/>
          <a:p>
            <a:pPr algn="l"/>
            <a:r>
              <a:rPr sz="2000" b="1" i="0">
                <a:solidFill>
                  <a:srgbClr val="202D28"/>
                </a:solidFill>
                <a:latin typeface="Calibri"/>
              </a:rPr>
              <a:t>about 0:40</a:t>
            </a:r>
            <a:r>
              <a:rPr sz="1600" b="0" i="0">
                <a:solidFill>
                  <a:srgbClr val="556760"/>
                </a:solidFill>
                <a:latin typeface="Calibri"/>
              </a:rPr>
              <a:t>   one short video for the audience you choose</a:t>
            </a:r>
          </a:p>
        </p:txBody>
      </p:sp>
      <p:sp>
        <p:nvSpPr>
          <p:cNvPr id="71" name="Rounded Rectangle 70"/>
          <p:cNvSpPr/>
          <p:nvPr/>
        </p:nvSpPr>
        <p:spPr>
          <a:xfrm>
            <a:off x="822960" y="2971800"/>
            <a:ext cx="916062" cy="566928"/>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145F4C"/>
                </a:solidFill>
                <a:latin typeface="Calibri"/>
              </a:rPr>
              <a:t>Opening</a:t>
            </a:r>
          </a:p>
        </p:txBody>
      </p:sp>
      <p:sp>
        <p:nvSpPr>
          <p:cNvPr id="72" name="Rounded Rectangle 71"/>
          <p:cNvSpPr/>
          <p:nvPr/>
        </p:nvSpPr>
        <p:spPr>
          <a:xfrm>
            <a:off x="1812174" y="2971800"/>
            <a:ext cx="2198550" cy="566928"/>
          </a:xfrm>
          <a:prstGeom prst="roundRect">
            <a:avLst>
              <a:gd name="adj" fmla="val 50000"/>
            </a:avLst>
          </a:prstGeom>
          <a:solidFill>
            <a:srgbClr val="E3ECF0"/>
          </a:solidFill>
          <a:ln w="15875">
            <a:solidFill>
              <a:srgbClr val="A8BCC7"/>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2D4A5A"/>
                </a:solidFill>
                <a:latin typeface="Calibri"/>
              </a:rPr>
              <a:t>Clip</a:t>
            </a:r>
          </a:p>
        </p:txBody>
      </p:sp>
      <p:sp>
        <p:nvSpPr>
          <p:cNvPr id="73" name="Rounded Rectangle 72"/>
          <p:cNvSpPr/>
          <p:nvPr/>
        </p:nvSpPr>
        <p:spPr>
          <a:xfrm>
            <a:off x="4083876" y="2971800"/>
            <a:ext cx="824456" cy="566928"/>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145F4C"/>
                </a:solidFill>
                <a:latin typeface="Calibri"/>
              </a:rPr>
              <a:t>Bridge</a:t>
            </a:r>
          </a:p>
        </p:txBody>
      </p:sp>
      <p:sp>
        <p:nvSpPr>
          <p:cNvPr id="74" name="Rounded Rectangle 73"/>
          <p:cNvSpPr/>
          <p:nvPr/>
        </p:nvSpPr>
        <p:spPr>
          <a:xfrm>
            <a:off x="4981484" y="2971800"/>
            <a:ext cx="2198550" cy="566928"/>
          </a:xfrm>
          <a:prstGeom prst="roundRect">
            <a:avLst>
              <a:gd name="adj" fmla="val 50000"/>
            </a:avLst>
          </a:prstGeom>
          <a:solidFill>
            <a:srgbClr val="E3ECF0"/>
          </a:solidFill>
          <a:ln w="15875">
            <a:solidFill>
              <a:srgbClr val="A8BCC7"/>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2D4A5A"/>
                </a:solidFill>
                <a:latin typeface="Calibri"/>
              </a:rPr>
              <a:t>Clip</a:t>
            </a:r>
          </a:p>
        </p:txBody>
      </p:sp>
      <p:sp>
        <p:nvSpPr>
          <p:cNvPr id="75" name="Rounded Rectangle 74"/>
          <p:cNvSpPr/>
          <p:nvPr/>
        </p:nvSpPr>
        <p:spPr>
          <a:xfrm>
            <a:off x="7253187" y="2971800"/>
            <a:ext cx="824456" cy="566928"/>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145F4C"/>
                </a:solidFill>
                <a:latin typeface="Calibri"/>
              </a:rPr>
              <a:t>Bridge</a:t>
            </a:r>
          </a:p>
        </p:txBody>
      </p:sp>
      <p:sp>
        <p:nvSpPr>
          <p:cNvPr id="76" name="Rounded Rectangle 75"/>
          <p:cNvSpPr/>
          <p:nvPr/>
        </p:nvSpPr>
        <p:spPr>
          <a:xfrm>
            <a:off x="8150795" y="2971800"/>
            <a:ext cx="2198550" cy="566928"/>
          </a:xfrm>
          <a:prstGeom prst="roundRect">
            <a:avLst>
              <a:gd name="adj" fmla="val 50000"/>
            </a:avLst>
          </a:prstGeom>
          <a:solidFill>
            <a:srgbClr val="E3ECF0"/>
          </a:solidFill>
          <a:ln w="15875">
            <a:solidFill>
              <a:srgbClr val="A8BCC7"/>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2D4A5A"/>
                </a:solidFill>
                <a:latin typeface="Calibri"/>
              </a:rPr>
              <a:t>Clip</a:t>
            </a:r>
          </a:p>
        </p:txBody>
      </p:sp>
      <p:sp>
        <p:nvSpPr>
          <p:cNvPr id="77" name="Rounded Rectangle 76"/>
          <p:cNvSpPr/>
          <p:nvPr/>
        </p:nvSpPr>
        <p:spPr>
          <a:xfrm>
            <a:off x="10422497" y="2971800"/>
            <a:ext cx="916062" cy="566928"/>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145F4C"/>
                </a:solidFill>
                <a:latin typeface="Calibri"/>
              </a:rPr>
              <a:t>Ending</a:t>
            </a:r>
          </a:p>
        </p:txBody>
      </p:sp>
      <p:sp>
        <p:nvSpPr>
          <p:cNvPr id="78" name="Rounded Rectangle 77"/>
          <p:cNvSpPr/>
          <p:nvPr/>
        </p:nvSpPr>
        <p:spPr>
          <a:xfrm>
            <a:off x="8321040" y="3657600"/>
            <a:ext cx="3017520" cy="411480"/>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400" b="1" i="0">
                <a:solidFill>
                  <a:srgbClr val="202D28"/>
                </a:solidFill>
                <a:latin typeface="Calibri"/>
              </a:rPr>
              <a:t>Approved by a person</a:t>
            </a:r>
          </a:p>
        </p:txBody>
      </p:sp>
      <p:sp>
        <p:nvSpPr>
          <p:cNvPr id="79" name="TextBox 78"/>
          <p:cNvSpPr txBox="1"/>
          <p:nvPr/>
        </p:nvSpPr>
        <p:spPr>
          <a:xfrm>
            <a:off x="822960" y="4343400"/>
            <a:ext cx="10515600" cy="1280160"/>
          </a:xfrm>
          <a:prstGeom prst="rect">
            <a:avLst/>
          </a:prstGeom>
          <a:noFill/>
        </p:spPr>
        <p:txBody>
          <a:bodyPr wrap="square" lIns="0" rIns="0" tIns="0" bIns="0" anchor="t">
            <a:spAutoFit/>
          </a:bodyPr>
          <a:lstStyle/>
          <a:p>
            <a:pPr algn="ctr"/>
            <a:r>
              <a:rPr sz="6600" b="1" i="0">
                <a:solidFill>
                  <a:srgbClr val="145F4C"/>
                </a:solidFill>
                <a:latin typeface="Georgia"/>
              </a:rPr>
              <a:t>Brevio Studio</a:t>
            </a:r>
          </a:p>
        </p:txBody>
      </p:sp>
      <p:sp>
        <p:nvSpPr>
          <p:cNvPr id="80" name="TextBox 79"/>
          <p:cNvSpPr txBox="1"/>
          <p:nvPr/>
        </p:nvSpPr>
        <p:spPr>
          <a:xfrm>
            <a:off x="822960" y="5486400"/>
            <a:ext cx="10515600" cy="548640"/>
          </a:xfrm>
          <a:prstGeom prst="rect">
            <a:avLst/>
          </a:prstGeom>
          <a:noFill/>
        </p:spPr>
        <p:txBody>
          <a:bodyPr wrap="square" lIns="0" rIns="0" tIns="0" bIns="0" anchor="t">
            <a:spAutoFit/>
          </a:bodyPr>
          <a:lstStyle/>
          <a:p>
            <a:pPr algn="ctr"/>
            <a:r>
              <a:rPr sz="2400" b="0" i="0">
                <a:solidFill>
                  <a:srgbClr val="556760"/>
                </a:solidFill>
                <a:latin typeface="Calibri"/>
              </a:rPr>
              <a:t>One long lecture. One short, reviewed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02 · PROBLEM</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0:12–0:44</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Great lectures. Too long to watch. Too risky to automate.</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Sources: Guo, Kim &amp; Rubin, L@S 2014 (doi 10.1145/2556325.2566239); Wyzowl, State of Video Marketing 2026 (266 respondents); TechSmith, 2026 Video Statistics.</a:t>
            </a:r>
          </a:p>
        </p:txBody>
      </p:sp>
      <p:sp>
        <p:nvSpPr>
          <p:cNvPr id="7" name="Rounded Rectangle 6"/>
          <p:cNvSpPr/>
          <p:nvPr/>
        </p:nvSpPr>
        <p:spPr>
          <a:xfrm>
            <a:off x="548640" y="1691640"/>
            <a:ext cx="3566160" cy="26060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10512"/>
            <a:ext cx="3108960" cy="914400"/>
          </a:xfrm>
          <a:prstGeom prst="rect">
            <a:avLst/>
          </a:prstGeom>
          <a:noFill/>
        </p:spPr>
        <p:txBody>
          <a:bodyPr wrap="square" lIns="0" rIns="0" tIns="0" bIns="0" anchor="t">
            <a:spAutoFit/>
          </a:bodyPr>
          <a:lstStyle/>
          <a:p>
            <a:pPr algn="l"/>
            <a:r>
              <a:rPr sz="5400" b="1" i="0">
                <a:solidFill>
                  <a:srgbClr val="145F4C"/>
                </a:solidFill>
                <a:latin typeface="Georgia"/>
              </a:rPr>
              <a:t>6.9M</a:t>
            </a:r>
          </a:p>
        </p:txBody>
      </p:sp>
      <p:sp>
        <p:nvSpPr>
          <p:cNvPr id="9" name="TextBox 8"/>
          <p:cNvSpPr txBox="1"/>
          <p:nvPr/>
        </p:nvSpPr>
        <p:spPr>
          <a:xfrm>
            <a:off x="822959" y="2788920"/>
            <a:ext cx="3017520" cy="731520"/>
          </a:xfrm>
          <a:prstGeom prst="rect">
            <a:avLst/>
          </a:prstGeom>
          <a:noFill/>
        </p:spPr>
        <p:txBody>
          <a:bodyPr wrap="square" lIns="0" rIns="0" tIns="0" bIns="0" anchor="t">
            <a:spAutoFit/>
          </a:bodyPr>
          <a:lstStyle/>
          <a:p>
            <a:pPr algn="l"/>
            <a:r>
              <a:rPr sz="1500" b="0" i="0">
                <a:solidFill>
                  <a:srgbClr val="202D28"/>
                </a:solidFill>
                <a:latin typeface="Calibri"/>
              </a:rPr>
              <a:t>video-watching sessions in an edX study</a:t>
            </a:r>
          </a:p>
        </p:txBody>
      </p:sp>
      <p:sp>
        <p:nvSpPr>
          <p:cNvPr id="10" name="TextBox 9"/>
          <p:cNvSpPr txBox="1"/>
          <p:nvPr/>
        </p:nvSpPr>
        <p:spPr>
          <a:xfrm>
            <a:off x="822959" y="3337560"/>
            <a:ext cx="3017520" cy="457200"/>
          </a:xfrm>
          <a:prstGeom prst="rect">
            <a:avLst/>
          </a:prstGeom>
          <a:noFill/>
        </p:spPr>
        <p:txBody>
          <a:bodyPr wrap="square" lIns="0" rIns="0" tIns="0" bIns="0" anchor="t">
            <a:spAutoFit/>
          </a:bodyPr>
          <a:lstStyle/>
          <a:p>
            <a:pPr algn="l"/>
            <a:r>
              <a:rPr sz="1500" b="1" i="0">
                <a:solidFill>
                  <a:srgbClr val="202D28"/>
                </a:solidFill>
                <a:latin typeface="Calibri"/>
              </a:rPr>
              <a:t>Shorter videos are much more engaging</a:t>
            </a:r>
          </a:p>
        </p:txBody>
      </p:sp>
      <p:sp>
        <p:nvSpPr>
          <p:cNvPr id="11" name="TextBox 10"/>
          <p:cNvSpPr txBox="1"/>
          <p:nvPr/>
        </p:nvSpPr>
        <p:spPr>
          <a:xfrm>
            <a:off x="822959" y="3840480"/>
            <a:ext cx="3108960" cy="365760"/>
          </a:xfrm>
          <a:prstGeom prst="rect">
            <a:avLst/>
          </a:prstGeom>
          <a:noFill/>
        </p:spPr>
        <p:txBody>
          <a:bodyPr wrap="square" lIns="0" rIns="0" tIns="0" bIns="0" anchor="t">
            <a:spAutoFit/>
          </a:bodyPr>
          <a:lstStyle/>
          <a:p>
            <a:pPr algn="l"/>
            <a:r>
              <a:rPr sz="1100" b="0" i="0">
                <a:solidFill>
                  <a:srgbClr val="556760"/>
                </a:solidFill>
                <a:latin typeface="Calibri"/>
              </a:rPr>
              <a:t>Guo, Kim &amp; Rubin, L@S 2014</a:t>
            </a:r>
          </a:p>
        </p:txBody>
      </p:sp>
      <p:sp>
        <p:nvSpPr>
          <p:cNvPr id="12" name="Rounded Rectangle 11"/>
          <p:cNvSpPr/>
          <p:nvPr/>
        </p:nvSpPr>
        <p:spPr>
          <a:xfrm>
            <a:off x="4297679" y="1691640"/>
            <a:ext cx="3566160" cy="26060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1999" y="1810512"/>
            <a:ext cx="3108960" cy="914400"/>
          </a:xfrm>
          <a:prstGeom prst="rect">
            <a:avLst/>
          </a:prstGeom>
          <a:noFill/>
        </p:spPr>
        <p:txBody>
          <a:bodyPr wrap="square" lIns="0" rIns="0" tIns="0" bIns="0" anchor="t">
            <a:spAutoFit/>
          </a:bodyPr>
          <a:lstStyle/>
          <a:p>
            <a:pPr algn="l"/>
            <a:r>
              <a:rPr sz="5400" b="1" i="0">
                <a:solidFill>
                  <a:srgbClr val="145F4C"/>
                </a:solidFill>
                <a:latin typeface="Georgia"/>
              </a:rPr>
              <a:t>71%</a:t>
            </a:r>
          </a:p>
        </p:txBody>
      </p:sp>
      <p:sp>
        <p:nvSpPr>
          <p:cNvPr id="14" name="TextBox 13"/>
          <p:cNvSpPr txBox="1"/>
          <p:nvPr/>
        </p:nvSpPr>
        <p:spPr>
          <a:xfrm>
            <a:off x="4571999" y="2788920"/>
            <a:ext cx="3017520" cy="731520"/>
          </a:xfrm>
          <a:prstGeom prst="rect">
            <a:avLst/>
          </a:prstGeom>
          <a:noFill/>
        </p:spPr>
        <p:txBody>
          <a:bodyPr wrap="square" lIns="0" rIns="0" tIns="0" bIns="0" anchor="t">
            <a:spAutoFit/>
          </a:bodyPr>
          <a:lstStyle/>
          <a:p>
            <a:pPr algn="l"/>
            <a:r>
              <a:rPr sz="1500" b="0" i="0">
                <a:solidFill>
                  <a:srgbClr val="202D28"/>
                </a:solidFill>
                <a:latin typeface="Calibri"/>
              </a:rPr>
              <a:t>of video marketers say 30 seconds to 2 minutes works best</a:t>
            </a:r>
          </a:p>
        </p:txBody>
      </p:sp>
      <p:sp>
        <p:nvSpPr>
          <p:cNvPr id="15" name="TextBox 14"/>
          <p:cNvSpPr txBox="1"/>
          <p:nvPr/>
        </p:nvSpPr>
        <p:spPr>
          <a:xfrm>
            <a:off x="4571999" y="3840480"/>
            <a:ext cx="3108960" cy="365760"/>
          </a:xfrm>
          <a:prstGeom prst="rect">
            <a:avLst/>
          </a:prstGeom>
          <a:noFill/>
        </p:spPr>
        <p:txBody>
          <a:bodyPr wrap="square" lIns="0" rIns="0" tIns="0" bIns="0" anchor="t">
            <a:spAutoFit/>
          </a:bodyPr>
          <a:lstStyle/>
          <a:p>
            <a:pPr algn="l"/>
            <a:r>
              <a:rPr sz="1100" b="0" i="0">
                <a:solidFill>
                  <a:srgbClr val="556760"/>
                </a:solidFill>
                <a:latin typeface="Calibri"/>
              </a:rPr>
              <a:t>Wyzowl, State of Video Marketing 2026 (n=266)</a:t>
            </a:r>
          </a:p>
        </p:txBody>
      </p:sp>
      <p:sp>
        <p:nvSpPr>
          <p:cNvPr id="16" name="Rounded Rectangle 15"/>
          <p:cNvSpPr/>
          <p:nvPr/>
        </p:nvSpPr>
        <p:spPr>
          <a:xfrm>
            <a:off x="8046719" y="1691640"/>
            <a:ext cx="3566160" cy="26060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810512"/>
            <a:ext cx="3108960" cy="914400"/>
          </a:xfrm>
          <a:prstGeom prst="rect">
            <a:avLst/>
          </a:prstGeom>
          <a:noFill/>
        </p:spPr>
        <p:txBody>
          <a:bodyPr wrap="square" lIns="0" rIns="0" tIns="0" bIns="0" anchor="t">
            <a:spAutoFit/>
          </a:bodyPr>
          <a:lstStyle/>
          <a:p>
            <a:pPr algn="l"/>
            <a:r>
              <a:rPr sz="5400" b="1" i="0">
                <a:solidFill>
                  <a:srgbClr val="A34E48"/>
                </a:solidFill>
                <a:latin typeface="Georgia"/>
              </a:rPr>
              <a:t>90%</a:t>
            </a:r>
          </a:p>
        </p:txBody>
      </p:sp>
      <p:sp>
        <p:nvSpPr>
          <p:cNvPr id="18" name="TextBox 17"/>
          <p:cNvSpPr txBox="1"/>
          <p:nvPr/>
        </p:nvSpPr>
        <p:spPr>
          <a:xfrm>
            <a:off x="8321040" y="2788920"/>
            <a:ext cx="3017520" cy="731520"/>
          </a:xfrm>
          <a:prstGeom prst="rect">
            <a:avLst/>
          </a:prstGeom>
          <a:noFill/>
        </p:spPr>
        <p:txBody>
          <a:bodyPr wrap="square" lIns="0" rIns="0" tIns="0" bIns="0" anchor="t">
            <a:spAutoFit/>
          </a:bodyPr>
          <a:lstStyle/>
          <a:p>
            <a:pPr algn="l"/>
            <a:r>
              <a:rPr sz="1500" b="0" i="0">
                <a:solidFill>
                  <a:srgbClr val="202D28"/>
                </a:solidFill>
                <a:latin typeface="Calibri"/>
              </a:rPr>
              <a:t>of viewers are concerned about AI content, including inaccuracies</a:t>
            </a:r>
          </a:p>
        </p:txBody>
      </p:sp>
      <p:sp>
        <p:nvSpPr>
          <p:cNvPr id="19" name="TextBox 18"/>
          <p:cNvSpPr txBox="1"/>
          <p:nvPr/>
        </p:nvSpPr>
        <p:spPr>
          <a:xfrm>
            <a:off x="8321040" y="3840480"/>
            <a:ext cx="3108960" cy="365760"/>
          </a:xfrm>
          <a:prstGeom prst="rect">
            <a:avLst/>
          </a:prstGeom>
          <a:noFill/>
        </p:spPr>
        <p:txBody>
          <a:bodyPr wrap="square" lIns="0" rIns="0" tIns="0" bIns="0" anchor="t">
            <a:spAutoFit/>
          </a:bodyPr>
          <a:lstStyle/>
          <a:p>
            <a:pPr algn="l"/>
            <a:r>
              <a:rPr sz="1100" b="0" i="0">
                <a:solidFill>
                  <a:srgbClr val="556760"/>
                </a:solidFill>
                <a:latin typeface="Calibri"/>
              </a:rPr>
              <a:t>TechSmith, 2026 Video Statistics</a:t>
            </a:r>
          </a:p>
        </p:txBody>
      </p:sp>
      <p:sp>
        <p:nvSpPr>
          <p:cNvPr id="20" name="Rounded Rectangle 19"/>
          <p:cNvSpPr/>
          <p:nvPr/>
        </p:nvSpPr>
        <p:spPr>
          <a:xfrm>
            <a:off x="548640" y="4526280"/>
            <a:ext cx="2926080" cy="685800"/>
          </a:xfrm>
          <a:prstGeom prst="roundRect">
            <a:avLst>
              <a:gd name="adj" fmla="val 8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526280"/>
            <a:ext cx="2651760" cy="685800"/>
          </a:xfrm>
          <a:prstGeom prst="rect">
            <a:avLst/>
          </a:prstGeom>
          <a:noFill/>
        </p:spPr>
        <p:txBody>
          <a:bodyPr wrap="square" lIns="0" rIns="0" tIns="0" bIns="0" anchor="ctr">
            <a:spAutoFit/>
          </a:bodyPr>
          <a:lstStyle/>
          <a:p>
            <a:pPr algn="l"/>
            <a:r>
              <a:rPr sz="2000" b="1" i="0">
                <a:solidFill>
                  <a:srgbClr val="202D28"/>
                </a:solidFill>
                <a:latin typeface="Calibri"/>
              </a:rPr>
              <a:t>By hand: slow</a:t>
            </a:r>
          </a:p>
        </p:txBody>
      </p:sp>
      <p:sp>
        <p:nvSpPr>
          <p:cNvPr id="22" name="Rounded Rectangle 21"/>
          <p:cNvSpPr/>
          <p:nvPr/>
        </p:nvSpPr>
        <p:spPr>
          <a:xfrm>
            <a:off x="3657600" y="4526280"/>
            <a:ext cx="6035040" cy="685800"/>
          </a:xfrm>
          <a:prstGeom prst="roundRect">
            <a:avLst>
              <a:gd name="adj" fmla="val 8000"/>
            </a:avLst>
          </a:prstGeom>
          <a:solidFill>
            <a:srgbClr val="F6E6E4"/>
          </a:solidFill>
          <a:ln w="15875">
            <a:solidFill>
              <a:srgbClr val="D9A8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0" y="4526280"/>
            <a:ext cx="5669280" cy="685800"/>
          </a:xfrm>
          <a:prstGeom prst="rect">
            <a:avLst/>
          </a:prstGeom>
          <a:noFill/>
        </p:spPr>
        <p:txBody>
          <a:bodyPr wrap="square" lIns="0" rIns="0" tIns="0" bIns="0" anchor="ctr">
            <a:spAutoFit/>
          </a:bodyPr>
          <a:lstStyle/>
          <a:p>
            <a:pPr algn="l"/>
            <a:r>
              <a:rPr sz="2000" b="1" i="0">
                <a:solidFill>
                  <a:srgbClr val="202D28"/>
                </a:solidFill>
                <a:latin typeface="Calibri"/>
              </a:rPr>
              <a:t>Fully automatic: chases virality, hard to trust</a:t>
            </a:r>
          </a:p>
        </p:txBody>
      </p:sp>
      <p:sp>
        <p:nvSpPr>
          <p:cNvPr id="24" name="TextBox 23"/>
          <p:cNvSpPr txBox="1"/>
          <p:nvPr/>
        </p:nvSpPr>
        <p:spPr>
          <a:xfrm>
            <a:off x="548640" y="5440680"/>
            <a:ext cx="11064240" cy="731520"/>
          </a:xfrm>
          <a:prstGeom prst="rect">
            <a:avLst/>
          </a:prstGeom>
          <a:noFill/>
        </p:spPr>
        <p:txBody>
          <a:bodyPr wrap="square" lIns="0" rIns="0" tIns="0" bIns="0" anchor="t">
            <a:spAutoFit/>
          </a:bodyPr>
          <a:lstStyle/>
          <a:p>
            <a:pPr algn="l"/>
            <a:r>
              <a:rPr sz="3000" b="1" i="0">
                <a:solidFill>
                  <a:srgbClr val="202D28"/>
                </a:solidFill>
                <a:latin typeface="Georgia"/>
              </a:rPr>
              <a:t>Teams are stuck between </a:t>
            </a:r>
            <a:r>
              <a:rPr sz="3000" b="1" i="0">
                <a:solidFill>
                  <a:srgbClr val="A34E48"/>
                </a:solidFill>
                <a:latin typeface="Georgia"/>
              </a:rPr>
              <a:t>slow</a:t>
            </a:r>
            <a:r>
              <a:rPr sz="3000" b="1" i="0">
                <a:solidFill>
                  <a:srgbClr val="202D28"/>
                </a:solidFill>
                <a:latin typeface="Georgia"/>
              </a:rPr>
              <a:t> and </a:t>
            </a:r>
            <a:r>
              <a:rPr sz="3000" b="1" i="0">
                <a:solidFill>
                  <a:srgbClr val="A34E48"/>
                </a:solidFill>
                <a:latin typeface="Georgia"/>
              </a:rPr>
              <a:t>untrustworthy</a:t>
            </a:r>
            <a:r>
              <a:rPr sz="3000" b="1" i="0">
                <a:solidFill>
                  <a:srgbClr val="202D28"/>
                </a:solidFill>
                <a:latin typeface="Georgia"/>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03 · SOLUTION AND PROCESS</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0:44–0:52</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Four steps, with a human gate before export</a:t>
            </a:r>
          </a:p>
        </p:txBody>
      </p:sp>
      <p:sp>
        <p:nvSpPr>
          <p:cNvPr id="6" name="Rounded Rectangle 5"/>
          <p:cNvSpPr/>
          <p:nvPr/>
        </p:nvSpPr>
        <p:spPr>
          <a:xfrm>
            <a:off x="548640" y="1691640"/>
            <a:ext cx="2651760" cy="205740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45720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1</a:t>
            </a:r>
          </a:p>
        </p:txBody>
      </p:sp>
      <p:sp>
        <p:nvSpPr>
          <p:cNvPr id="8" name="TextBox 7"/>
          <p:cNvSpPr txBox="1"/>
          <p:nvPr/>
        </p:nvSpPr>
        <p:spPr>
          <a:xfrm>
            <a:off x="1325880" y="1847088"/>
            <a:ext cx="1737360" cy="457200"/>
          </a:xfrm>
          <a:prstGeom prst="rect">
            <a:avLst/>
          </a:prstGeom>
          <a:noFill/>
        </p:spPr>
        <p:txBody>
          <a:bodyPr wrap="square" lIns="0" rIns="0" tIns="0" bIns="0" anchor="ctr">
            <a:spAutoFit/>
          </a:bodyPr>
          <a:lstStyle/>
          <a:p>
            <a:pPr algn="l"/>
            <a:r>
              <a:rPr sz="2200" b="1" i="0">
                <a:solidFill>
                  <a:srgbClr val="145F4C"/>
                </a:solidFill>
                <a:latin typeface="Georgia"/>
              </a:rPr>
              <a:t>Source</a:t>
            </a:r>
          </a:p>
        </p:txBody>
      </p:sp>
      <p:sp>
        <p:nvSpPr>
          <p:cNvPr id="9" name="TextBox 8"/>
          <p:cNvSpPr txBox="1"/>
          <p:nvPr/>
        </p:nvSpPr>
        <p:spPr>
          <a:xfrm>
            <a:off x="731520" y="2468880"/>
            <a:ext cx="2286000" cy="1188720"/>
          </a:xfrm>
          <a:prstGeom prst="rect">
            <a:avLst/>
          </a:prstGeom>
          <a:noFill/>
        </p:spPr>
        <p:txBody>
          <a:bodyPr wrap="square" lIns="0" rIns="0" tIns="0" bIns="0" anchor="t">
            <a:spAutoFit/>
          </a:bodyPr>
          <a:lstStyle/>
          <a:p>
            <a:pPr algn="l"/>
            <a:r>
              <a:rPr sz="1400" b="0" i="0">
                <a:solidFill>
                  <a:srgbClr val="556760"/>
                </a:solidFill>
                <a:latin typeface="Calibri"/>
              </a:rPr>
              <a:t>Pick the lecture and the audience: researcher, general public or kids</a:t>
            </a:r>
          </a:p>
        </p:txBody>
      </p:sp>
      <p:sp>
        <p:nvSpPr>
          <p:cNvPr id="10" name="Rounded Rectangle 9"/>
          <p:cNvSpPr/>
          <p:nvPr/>
        </p:nvSpPr>
        <p:spPr>
          <a:xfrm>
            <a:off x="3355848" y="1691640"/>
            <a:ext cx="2651760" cy="205740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38728" y="1828800"/>
            <a:ext cx="45720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2</a:t>
            </a:r>
          </a:p>
        </p:txBody>
      </p:sp>
      <p:sp>
        <p:nvSpPr>
          <p:cNvPr id="12" name="TextBox 11"/>
          <p:cNvSpPr txBox="1"/>
          <p:nvPr/>
        </p:nvSpPr>
        <p:spPr>
          <a:xfrm>
            <a:off x="4133087" y="1847088"/>
            <a:ext cx="1737360" cy="457200"/>
          </a:xfrm>
          <a:prstGeom prst="rect">
            <a:avLst/>
          </a:prstGeom>
          <a:noFill/>
        </p:spPr>
        <p:txBody>
          <a:bodyPr wrap="square" lIns="0" rIns="0" tIns="0" bIns="0" anchor="ctr">
            <a:spAutoFit/>
          </a:bodyPr>
          <a:lstStyle/>
          <a:p>
            <a:pPr algn="l"/>
            <a:r>
              <a:rPr sz="2200" b="1" i="0">
                <a:solidFill>
                  <a:srgbClr val="145F4C"/>
                </a:solidFill>
                <a:latin typeface="Georgia"/>
              </a:rPr>
              <a:t>Clips</a:t>
            </a:r>
          </a:p>
        </p:txBody>
      </p:sp>
      <p:sp>
        <p:nvSpPr>
          <p:cNvPr id="13" name="TextBox 12"/>
          <p:cNvSpPr txBox="1"/>
          <p:nvPr/>
        </p:nvSpPr>
        <p:spPr>
          <a:xfrm>
            <a:off x="3538728" y="2468880"/>
            <a:ext cx="2286000" cy="1188720"/>
          </a:xfrm>
          <a:prstGeom prst="rect">
            <a:avLst/>
          </a:prstGeom>
          <a:noFill/>
        </p:spPr>
        <p:txBody>
          <a:bodyPr wrap="square" lIns="0" rIns="0" tIns="0" bIns="0" anchor="t">
            <a:spAutoFit/>
          </a:bodyPr>
          <a:lstStyle/>
          <a:p>
            <a:pPr algn="l"/>
            <a:r>
              <a:rPr sz="1400" b="0" i="0">
                <a:solidFill>
                  <a:srgbClr val="556760"/>
                </a:solidFill>
                <a:latin typeface="Calibri"/>
              </a:rPr>
              <a:t>Local transcript, strongest clips, and a story plan: opening, bridges, ending</a:t>
            </a:r>
          </a:p>
        </p:txBody>
      </p:sp>
      <p:sp>
        <p:nvSpPr>
          <p:cNvPr id="14" name="Rounded Rectangle 13"/>
          <p:cNvSpPr/>
          <p:nvPr/>
        </p:nvSpPr>
        <p:spPr>
          <a:xfrm>
            <a:off x="6163055" y="1691640"/>
            <a:ext cx="2651760" cy="205740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45936" y="1828800"/>
            <a:ext cx="45720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3</a:t>
            </a:r>
          </a:p>
        </p:txBody>
      </p:sp>
      <p:sp>
        <p:nvSpPr>
          <p:cNvPr id="16" name="TextBox 15"/>
          <p:cNvSpPr txBox="1"/>
          <p:nvPr/>
        </p:nvSpPr>
        <p:spPr>
          <a:xfrm>
            <a:off x="6940295" y="1847088"/>
            <a:ext cx="1737360" cy="457200"/>
          </a:xfrm>
          <a:prstGeom prst="rect">
            <a:avLst/>
          </a:prstGeom>
          <a:noFill/>
        </p:spPr>
        <p:txBody>
          <a:bodyPr wrap="square" lIns="0" rIns="0" tIns="0" bIns="0" anchor="ctr">
            <a:spAutoFit/>
          </a:bodyPr>
          <a:lstStyle/>
          <a:p>
            <a:pPr algn="l"/>
            <a:r>
              <a:rPr sz="2200" b="1" i="0">
                <a:solidFill>
                  <a:srgbClr val="145F4C"/>
                </a:solidFill>
                <a:latin typeface="Georgia"/>
              </a:rPr>
              <a:t>Studio</a:t>
            </a:r>
          </a:p>
        </p:txBody>
      </p:sp>
      <p:sp>
        <p:nvSpPr>
          <p:cNvPr id="17" name="TextBox 16"/>
          <p:cNvSpPr txBox="1"/>
          <p:nvPr/>
        </p:nvSpPr>
        <p:spPr>
          <a:xfrm>
            <a:off x="6345936" y="2468880"/>
            <a:ext cx="2286000" cy="1188720"/>
          </a:xfrm>
          <a:prstGeom prst="rect">
            <a:avLst/>
          </a:prstGeom>
          <a:noFill/>
        </p:spPr>
        <p:txBody>
          <a:bodyPr wrap="square" lIns="0" rIns="0" tIns="0" bIns="0" anchor="t">
            <a:spAutoFit/>
          </a:bodyPr>
          <a:lstStyle/>
          <a:p>
            <a:pPr algn="l"/>
            <a:r>
              <a:rPr sz="1400" b="0" i="0">
                <a:solidFill>
                  <a:srgbClr val="556760"/>
                </a:solidFill>
                <a:latin typeface="Calibri"/>
              </a:rPr>
              <a:t>Narrated preview with captions, music and illustrations, each beside its source evidence</a:t>
            </a:r>
          </a:p>
        </p:txBody>
      </p:sp>
      <p:sp>
        <p:nvSpPr>
          <p:cNvPr id="18" name="Rounded Rectangle 17"/>
          <p:cNvSpPr/>
          <p:nvPr/>
        </p:nvSpPr>
        <p:spPr>
          <a:xfrm>
            <a:off x="8970263" y="1691640"/>
            <a:ext cx="2651760" cy="205740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3" y="1828800"/>
            <a:ext cx="45720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4</a:t>
            </a:r>
          </a:p>
        </p:txBody>
      </p:sp>
      <p:sp>
        <p:nvSpPr>
          <p:cNvPr id="20" name="TextBox 19"/>
          <p:cNvSpPr txBox="1"/>
          <p:nvPr/>
        </p:nvSpPr>
        <p:spPr>
          <a:xfrm>
            <a:off x="9747503" y="1847088"/>
            <a:ext cx="1737360" cy="457200"/>
          </a:xfrm>
          <a:prstGeom prst="rect">
            <a:avLst/>
          </a:prstGeom>
          <a:noFill/>
        </p:spPr>
        <p:txBody>
          <a:bodyPr wrap="square" lIns="0" rIns="0" tIns="0" bIns="0" anchor="ctr">
            <a:spAutoFit/>
          </a:bodyPr>
          <a:lstStyle/>
          <a:p>
            <a:pPr algn="l"/>
            <a:r>
              <a:rPr sz="2200" b="1" i="0">
                <a:solidFill>
                  <a:srgbClr val="145F4C"/>
                </a:solidFill>
                <a:latin typeface="Georgia"/>
              </a:rPr>
              <a:t>Export</a:t>
            </a:r>
          </a:p>
        </p:txBody>
      </p:sp>
      <p:sp>
        <p:nvSpPr>
          <p:cNvPr id="21" name="TextBox 20"/>
          <p:cNvSpPr txBox="1"/>
          <p:nvPr/>
        </p:nvSpPr>
        <p:spPr>
          <a:xfrm>
            <a:off x="9153143" y="2468880"/>
            <a:ext cx="2286000" cy="1188720"/>
          </a:xfrm>
          <a:prstGeom prst="rect">
            <a:avLst/>
          </a:prstGeom>
          <a:noFill/>
        </p:spPr>
        <p:txBody>
          <a:bodyPr wrap="square" lIns="0" rIns="0" tIns="0" bIns="0" anchor="t">
            <a:spAutoFit/>
          </a:bodyPr>
          <a:lstStyle/>
          <a:p>
            <a:pPr algn="l"/>
            <a:r>
              <a:rPr sz="1400" b="0" i="0">
                <a:solidFill>
                  <a:srgbClr val="556760"/>
                </a:solidFill>
                <a:latin typeface="Calibri"/>
              </a:rPr>
              <a:t>A technical check and a structure check: does the story follow the plan?</a:t>
            </a:r>
          </a:p>
        </p:txBody>
      </p:sp>
      <p:sp>
        <p:nvSpPr>
          <p:cNvPr id="22" name="Rounded Rectangle 21"/>
          <p:cNvSpPr/>
          <p:nvPr/>
        </p:nvSpPr>
        <p:spPr>
          <a:xfrm>
            <a:off x="5669280" y="1481328"/>
            <a:ext cx="1920240" cy="329184"/>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200" b="1" i="0">
                <a:solidFill>
                  <a:srgbClr val="202D28"/>
                </a:solidFill>
                <a:latin typeface="Calibri"/>
              </a:rPr>
              <a:t>Human approval</a:t>
            </a:r>
          </a:p>
        </p:txBody>
      </p:sp>
      <p:sp>
        <p:nvSpPr>
          <p:cNvPr id="23" name="Rounded Rectangle 22"/>
          <p:cNvSpPr/>
          <p:nvPr/>
        </p:nvSpPr>
        <p:spPr>
          <a:xfrm>
            <a:off x="548640" y="4023360"/>
            <a:ext cx="1463040" cy="50292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Plan</a:t>
            </a:r>
          </a:p>
        </p:txBody>
      </p:sp>
      <p:sp>
        <p:nvSpPr>
          <p:cNvPr id="24" name="TextBox 23"/>
          <p:cNvSpPr txBox="1"/>
          <p:nvPr/>
        </p:nvSpPr>
        <p:spPr>
          <a:xfrm>
            <a:off x="2057400" y="4023360"/>
            <a:ext cx="274320" cy="502920"/>
          </a:xfrm>
          <a:prstGeom prst="rect">
            <a:avLst/>
          </a:prstGeom>
          <a:noFill/>
        </p:spPr>
        <p:txBody>
          <a:bodyPr wrap="square" lIns="0" rIns="0" tIns="0" bIns="0" anchor="ctr">
            <a:spAutoFit/>
          </a:bodyPr>
          <a:lstStyle/>
          <a:p>
            <a:pPr algn="ctr"/>
            <a:r>
              <a:rPr sz="1800" b="0" i="0">
                <a:solidFill>
                  <a:srgbClr val="556760"/>
                </a:solidFill>
                <a:latin typeface="Calibri"/>
              </a:rPr>
              <a:t>→</a:t>
            </a:r>
          </a:p>
        </p:txBody>
      </p:sp>
      <p:sp>
        <p:nvSpPr>
          <p:cNvPr id="25" name="Rounded Rectangle 24"/>
          <p:cNvSpPr/>
          <p:nvPr/>
        </p:nvSpPr>
        <p:spPr>
          <a:xfrm>
            <a:off x="2331720" y="4023360"/>
            <a:ext cx="1463040" cy="50292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Build</a:t>
            </a:r>
          </a:p>
        </p:txBody>
      </p:sp>
      <p:sp>
        <p:nvSpPr>
          <p:cNvPr id="26" name="TextBox 25"/>
          <p:cNvSpPr txBox="1"/>
          <p:nvPr/>
        </p:nvSpPr>
        <p:spPr>
          <a:xfrm>
            <a:off x="3840480" y="4023360"/>
            <a:ext cx="274320" cy="502920"/>
          </a:xfrm>
          <a:prstGeom prst="rect">
            <a:avLst/>
          </a:prstGeom>
          <a:noFill/>
        </p:spPr>
        <p:txBody>
          <a:bodyPr wrap="square" lIns="0" rIns="0" tIns="0" bIns="0" anchor="ctr">
            <a:spAutoFit/>
          </a:bodyPr>
          <a:lstStyle/>
          <a:p>
            <a:pPr algn="ctr"/>
            <a:r>
              <a:rPr sz="1800" b="0" i="0">
                <a:solidFill>
                  <a:srgbClr val="556760"/>
                </a:solidFill>
                <a:latin typeface="Calibri"/>
              </a:rPr>
              <a:t>→</a:t>
            </a:r>
          </a:p>
        </p:txBody>
      </p:sp>
      <p:sp>
        <p:nvSpPr>
          <p:cNvPr id="27" name="Rounded Rectangle 26"/>
          <p:cNvSpPr/>
          <p:nvPr/>
        </p:nvSpPr>
        <p:spPr>
          <a:xfrm>
            <a:off x="4114800" y="4023360"/>
            <a:ext cx="1463040" cy="50292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145F4C"/>
                </a:solidFill>
                <a:latin typeface="Calibri"/>
              </a:rPr>
              <a:t>Check</a:t>
            </a:r>
          </a:p>
        </p:txBody>
      </p:sp>
      <p:sp>
        <p:nvSpPr>
          <p:cNvPr id="28" name="TextBox 27"/>
          <p:cNvSpPr txBox="1"/>
          <p:nvPr/>
        </p:nvSpPr>
        <p:spPr>
          <a:xfrm>
            <a:off x="5623560" y="4023360"/>
            <a:ext cx="274320" cy="502920"/>
          </a:xfrm>
          <a:prstGeom prst="rect">
            <a:avLst/>
          </a:prstGeom>
          <a:noFill/>
        </p:spPr>
        <p:txBody>
          <a:bodyPr wrap="square" lIns="0" rIns="0" tIns="0" bIns="0" anchor="ctr">
            <a:spAutoFit/>
          </a:bodyPr>
          <a:lstStyle/>
          <a:p>
            <a:pPr algn="ctr"/>
            <a:r>
              <a:rPr sz="1800" b="0" i="0">
                <a:solidFill>
                  <a:srgbClr val="556760"/>
                </a:solidFill>
                <a:latin typeface="Calibri"/>
              </a:rPr>
              <a:t>→</a:t>
            </a:r>
          </a:p>
        </p:txBody>
      </p:sp>
      <p:sp>
        <p:nvSpPr>
          <p:cNvPr id="29" name="Rounded Rectangle 28"/>
          <p:cNvSpPr/>
          <p:nvPr/>
        </p:nvSpPr>
        <p:spPr>
          <a:xfrm>
            <a:off x="5897879" y="4023360"/>
            <a:ext cx="1463040" cy="502920"/>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800" b="1" i="0">
                <a:solidFill>
                  <a:srgbClr val="202D28"/>
                </a:solidFill>
                <a:latin typeface="Calibri"/>
              </a:rPr>
              <a:t>Approve</a:t>
            </a:r>
          </a:p>
        </p:txBody>
      </p:sp>
      <p:sp>
        <p:nvSpPr>
          <p:cNvPr id="30" name="Rounded Rectangle 29"/>
          <p:cNvSpPr/>
          <p:nvPr/>
        </p:nvSpPr>
        <p:spPr>
          <a:xfrm>
            <a:off x="548640" y="4846320"/>
            <a:ext cx="5394960" cy="1280160"/>
          </a:xfrm>
          <a:prstGeom prst="roundRect">
            <a:avLst>
              <a:gd name="adj" fmla="val 8000"/>
            </a:avLst>
          </a:prstGeom>
          <a:solidFill>
            <a:srgbClr val="EEF5F1"/>
          </a:solidFill>
          <a:ln w="19050">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956048"/>
            <a:ext cx="4937760" cy="1097280"/>
          </a:xfrm>
          <a:prstGeom prst="rect">
            <a:avLst/>
          </a:prstGeom>
          <a:noFill/>
        </p:spPr>
        <p:txBody>
          <a:bodyPr wrap="square" lIns="0" rIns="0" tIns="0" bIns="0" anchor="t">
            <a:spAutoFit/>
          </a:bodyPr>
          <a:lstStyle/>
          <a:p>
            <a:pPr algn="l"/>
            <a:r>
              <a:rPr sz="1700" b="1" i="0">
                <a:solidFill>
                  <a:srgbClr val="145F4C"/>
                </a:solidFill>
                <a:latin typeface="Calibri"/>
              </a:rPr>
              <a:t>Technical check</a:t>
            </a:r>
          </a:p>
          <a:p>
            <a:pPr algn="l"/>
            <a:r>
              <a:rPr sz="1400" b="0" i="0">
                <a:solidFill>
                  <a:srgbClr val="202D28"/>
                </a:solidFill>
                <a:latin typeface="Calibri"/>
              </a:rPr>
              <a:t>Media, captions and loudness measured on the exported file.</a:t>
            </a:r>
          </a:p>
        </p:txBody>
      </p:sp>
      <p:sp>
        <p:nvSpPr>
          <p:cNvPr id="32" name="Rounded Rectangle 31"/>
          <p:cNvSpPr/>
          <p:nvPr/>
        </p:nvSpPr>
        <p:spPr>
          <a:xfrm>
            <a:off x="6172200" y="4846320"/>
            <a:ext cx="5468112" cy="1280160"/>
          </a:xfrm>
          <a:prstGeom prst="roundRect">
            <a:avLst>
              <a:gd name="adj" fmla="val 8000"/>
            </a:avLst>
          </a:prstGeom>
          <a:solidFill>
            <a:srgbClr val="EEF5F1"/>
          </a:solidFill>
          <a:ln w="19050">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4956048"/>
            <a:ext cx="5029200" cy="1097280"/>
          </a:xfrm>
          <a:prstGeom prst="rect">
            <a:avLst/>
          </a:prstGeom>
          <a:noFill/>
        </p:spPr>
        <p:txBody>
          <a:bodyPr wrap="square" lIns="0" rIns="0" tIns="0" bIns="0" anchor="t">
            <a:spAutoFit/>
          </a:bodyPr>
          <a:lstStyle/>
          <a:p>
            <a:pPr algn="l"/>
            <a:r>
              <a:rPr sz="1700" b="1" i="0">
                <a:solidFill>
                  <a:srgbClr val="145F4C"/>
                </a:solidFill>
                <a:latin typeface="Calibri"/>
              </a:rPr>
              <a:t>Structure check</a:t>
            </a:r>
          </a:p>
          <a:p>
            <a:pPr algn="l"/>
            <a:r>
              <a:rPr sz="1400" b="0" i="0">
                <a:solidFill>
                  <a:srgbClr val="202D28"/>
                </a:solidFill>
                <a:latin typeface="Calibri"/>
              </a:rPr>
              <a:t>Order, bridges, narration and the plan: does the finished story follow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04 · DEMO: THE REAL APP (1 OF 2)</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0:53–1:02</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From source to a planned story</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Screens: Brevio Studio proof of concept, captured at 2x in a scripted demo session (frontend/scripts/capture-pitch-stills.mjs). Plan data mocked, no cloud calls; lecture picture blurred.</a:t>
            </a:r>
          </a:p>
        </p:txBody>
      </p:sp>
      <p:pic>
        <p:nvPicPr>
          <p:cNvPr id="7" name="Picture 6" descr="ui-source.png"/>
          <p:cNvPicPr>
            <a:picLocks noChangeAspect="1"/>
          </p:cNvPicPr>
          <p:nvPr/>
        </p:nvPicPr>
        <p:blipFill>
          <a:blip r:embed="rId3"/>
          <a:stretch>
            <a:fillRect/>
          </a:stretch>
        </p:blipFill>
        <p:spPr>
          <a:xfrm>
            <a:off x="548640" y="1737360"/>
            <a:ext cx="5440680" cy="3060382"/>
          </a:xfrm>
          <a:prstGeom prst="rect">
            <a:avLst/>
          </a:prstGeom>
          <a:ln w="19050">
            <a:solidFill>
              <a:srgbClr val="B8CEC3"/>
            </a:solidFill>
          </a:ln>
        </p:spPr>
      </p:pic>
      <p:pic>
        <p:nvPicPr>
          <p:cNvPr id="8" name="Picture 7" descr="ui-blueprint.png"/>
          <p:cNvPicPr>
            <a:picLocks noChangeAspect="1"/>
          </p:cNvPicPr>
          <p:nvPr/>
        </p:nvPicPr>
        <p:blipFill>
          <a:blip r:embed="rId4"/>
          <a:stretch>
            <a:fillRect/>
          </a:stretch>
        </p:blipFill>
        <p:spPr>
          <a:xfrm>
            <a:off x="6199632" y="1737360"/>
            <a:ext cx="5440680" cy="3060382"/>
          </a:xfrm>
          <a:prstGeom prst="rect">
            <a:avLst/>
          </a:prstGeom>
          <a:ln w="19050">
            <a:solidFill>
              <a:srgbClr val="B8CEC3"/>
            </a:solidFill>
          </a:ln>
        </p:spPr>
      </p:pic>
      <p:sp>
        <p:nvSpPr>
          <p:cNvPr id="9" name="Rounded Rectangle 8"/>
          <p:cNvSpPr/>
          <p:nvPr/>
        </p:nvSpPr>
        <p:spPr>
          <a:xfrm>
            <a:off x="548640" y="4983480"/>
            <a:ext cx="5440680" cy="457200"/>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600" b="1" i="0">
                <a:solidFill>
                  <a:srgbClr val="202D28"/>
                </a:solidFill>
                <a:latin typeface="Calibri"/>
              </a:rPr>
              <a:t>1  Pick the lecture and the audience</a:t>
            </a:r>
          </a:p>
        </p:txBody>
      </p:sp>
      <p:sp>
        <p:nvSpPr>
          <p:cNvPr id="10" name="Rounded Rectangle 9"/>
          <p:cNvSpPr/>
          <p:nvPr/>
        </p:nvSpPr>
        <p:spPr>
          <a:xfrm>
            <a:off x="6199632" y="4983480"/>
            <a:ext cx="5440680" cy="457200"/>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600" b="1" i="0">
                <a:solidFill>
                  <a:srgbClr val="202D28"/>
                </a:solidFill>
                <a:latin typeface="Calibri"/>
              </a:rPr>
              <a:t>2  Plan first: opening, bridges and ending</a:t>
            </a:r>
          </a:p>
        </p:txBody>
      </p:sp>
      <p:sp>
        <p:nvSpPr>
          <p:cNvPr id="11" name="TextBox 10"/>
          <p:cNvSpPr txBox="1"/>
          <p:nvPr/>
        </p:nvSpPr>
        <p:spPr>
          <a:xfrm>
            <a:off x="548640" y="5669280"/>
            <a:ext cx="11064240" cy="548640"/>
          </a:xfrm>
          <a:prstGeom prst="rect">
            <a:avLst/>
          </a:prstGeom>
          <a:noFill/>
        </p:spPr>
        <p:txBody>
          <a:bodyPr wrap="square" lIns="0" rIns="0" tIns="0" bIns="0" anchor="t">
            <a:spAutoFit/>
          </a:bodyPr>
          <a:lstStyle/>
          <a:p>
            <a:pPr algn="ctr"/>
            <a:r>
              <a:rPr sz="1600" b="0" i="0">
                <a:solidFill>
                  <a:srgbClr val="556760"/>
                </a:solidFill>
                <a:latin typeface="Calibri"/>
              </a:rPr>
              <a:t>The blueprint is written before any narration, so the finished video can be checked against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05 · DEMO: THE REAL APP (2 OF 2)</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1:02–1:29</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Review, approve, check</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Screens: Brevio Studio proof of concept, captured at 2x in a scripted demo session. Export checks are from an existing export; lecture picture blurred.</a:t>
            </a:r>
          </a:p>
        </p:txBody>
      </p:sp>
      <p:pic>
        <p:nvPicPr>
          <p:cNvPr id="7" name="Picture 6" descr="ui-studio.png"/>
          <p:cNvPicPr>
            <a:picLocks noChangeAspect="1"/>
          </p:cNvPicPr>
          <p:nvPr/>
        </p:nvPicPr>
        <p:blipFill>
          <a:blip r:embed="rId3"/>
          <a:stretch>
            <a:fillRect/>
          </a:stretch>
        </p:blipFill>
        <p:spPr>
          <a:xfrm>
            <a:off x="548640" y="1783080"/>
            <a:ext cx="3611880" cy="2031682"/>
          </a:xfrm>
          <a:prstGeom prst="rect">
            <a:avLst/>
          </a:prstGeom>
          <a:ln w="19050">
            <a:solidFill>
              <a:srgbClr val="B8CEC3"/>
            </a:solidFill>
          </a:ln>
        </p:spPr>
      </p:pic>
      <p:sp>
        <p:nvSpPr>
          <p:cNvPr id="8" name="TextBox 7"/>
          <p:cNvSpPr txBox="1"/>
          <p:nvPr/>
        </p:nvSpPr>
        <p:spPr>
          <a:xfrm>
            <a:off x="548640" y="3977639"/>
            <a:ext cx="3611880" cy="365760"/>
          </a:xfrm>
          <a:prstGeom prst="rect">
            <a:avLst/>
          </a:prstGeom>
          <a:noFill/>
        </p:spPr>
        <p:txBody>
          <a:bodyPr wrap="square" lIns="0" rIns="0" tIns="0" bIns="0" anchor="t">
            <a:spAutoFit/>
          </a:bodyPr>
          <a:lstStyle/>
          <a:p>
            <a:pPr algn="l"/>
            <a:r>
              <a:rPr sz="2000" b="1" i="0">
                <a:solidFill>
                  <a:srgbClr val="145F4C"/>
                </a:solidFill>
                <a:latin typeface="Georgia"/>
              </a:rPr>
              <a:t>Studio</a:t>
            </a:r>
          </a:p>
        </p:txBody>
      </p:sp>
      <p:sp>
        <p:nvSpPr>
          <p:cNvPr id="9" name="TextBox 8"/>
          <p:cNvSpPr txBox="1"/>
          <p:nvPr/>
        </p:nvSpPr>
        <p:spPr>
          <a:xfrm>
            <a:off x="548640" y="4389120"/>
            <a:ext cx="3611880" cy="822960"/>
          </a:xfrm>
          <a:prstGeom prst="rect">
            <a:avLst/>
          </a:prstGeom>
          <a:noFill/>
        </p:spPr>
        <p:txBody>
          <a:bodyPr wrap="square" lIns="0" rIns="0" tIns="0" bIns="0" anchor="t">
            <a:spAutoFit/>
          </a:bodyPr>
          <a:lstStyle/>
          <a:p>
            <a:pPr algn="l"/>
            <a:r>
              <a:rPr sz="1400" b="0" i="0">
                <a:solidFill>
                  <a:srgbClr val="556760"/>
                </a:solidFill>
                <a:latin typeface="Calibri"/>
              </a:rPr>
              <a:t>Narrated preview, story sequence and source evidence</a:t>
            </a:r>
          </a:p>
        </p:txBody>
      </p:sp>
      <p:pic>
        <p:nvPicPr>
          <p:cNvPr id="10" name="Picture 9" descr="ui-approval.png"/>
          <p:cNvPicPr>
            <a:picLocks noChangeAspect="1"/>
          </p:cNvPicPr>
          <p:nvPr/>
        </p:nvPicPr>
        <p:blipFill>
          <a:blip r:embed="rId4"/>
          <a:stretch>
            <a:fillRect/>
          </a:stretch>
        </p:blipFill>
        <p:spPr>
          <a:xfrm>
            <a:off x="4297679" y="1783080"/>
            <a:ext cx="3611880" cy="2031682"/>
          </a:xfrm>
          <a:prstGeom prst="rect">
            <a:avLst/>
          </a:prstGeom>
          <a:ln w="19050">
            <a:solidFill>
              <a:srgbClr val="B8CEC3"/>
            </a:solidFill>
          </a:ln>
        </p:spPr>
      </p:pic>
      <p:sp>
        <p:nvSpPr>
          <p:cNvPr id="11" name="TextBox 10"/>
          <p:cNvSpPr txBox="1"/>
          <p:nvPr/>
        </p:nvSpPr>
        <p:spPr>
          <a:xfrm>
            <a:off x="4297679" y="3977639"/>
            <a:ext cx="3611880" cy="365760"/>
          </a:xfrm>
          <a:prstGeom prst="rect">
            <a:avLst/>
          </a:prstGeom>
          <a:noFill/>
        </p:spPr>
        <p:txBody>
          <a:bodyPr wrap="square" lIns="0" rIns="0" tIns="0" bIns="0" anchor="t">
            <a:spAutoFit/>
          </a:bodyPr>
          <a:lstStyle/>
          <a:p>
            <a:pPr algn="l"/>
            <a:r>
              <a:rPr sz="2000" b="1" i="0">
                <a:solidFill>
                  <a:srgbClr val="145F4C"/>
                </a:solidFill>
                <a:latin typeface="Georgia"/>
              </a:rPr>
              <a:t>Approval</a:t>
            </a:r>
          </a:p>
        </p:txBody>
      </p:sp>
      <p:sp>
        <p:nvSpPr>
          <p:cNvPr id="12" name="TextBox 11"/>
          <p:cNvSpPr txBox="1"/>
          <p:nvPr/>
        </p:nvSpPr>
        <p:spPr>
          <a:xfrm>
            <a:off x="4297679" y="4389120"/>
            <a:ext cx="3611880" cy="822960"/>
          </a:xfrm>
          <a:prstGeom prst="rect">
            <a:avLst/>
          </a:prstGeom>
          <a:noFill/>
        </p:spPr>
        <p:txBody>
          <a:bodyPr wrap="square" lIns="0" rIns="0" tIns="0" bIns="0" anchor="t">
            <a:spAutoFit/>
          </a:bodyPr>
          <a:lstStyle/>
          <a:p>
            <a:pPr algn="l"/>
            <a:r>
              <a:rPr sz="1400" b="0" i="0">
                <a:solidFill>
                  <a:srgbClr val="556760"/>
                </a:solidFill>
                <a:latin typeface="Calibri"/>
              </a:rPr>
              <a:t>A named reviewer approves the exact preview before export</a:t>
            </a:r>
          </a:p>
        </p:txBody>
      </p:sp>
      <p:pic>
        <p:nvPicPr>
          <p:cNvPr id="13" name="Picture 12" descr="ui-export.png"/>
          <p:cNvPicPr>
            <a:picLocks noChangeAspect="1"/>
          </p:cNvPicPr>
          <p:nvPr/>
        </p:nvPicPr>
        <p:blipFill>
          <a:blip r:embed="rId5"/>
          <a:stretch>
            <a:fillRect/>
          </a:stretch>
        </p:blipFill>
        <p:spPr>
          <a:xfrm>
            <a:off x="8046719" y="1783080"/>
            <a:ext cx="3611880" cy="2031682"/>
          </a:xfrm>
          <a:prstGeom prst="rect">
            <a:avLst/>
          </a:prstGeom>
          <a:ln w="19050">
            <a:solidFill>
              <a:srgbClr val="B8CEC3"/>
            </a:solidFill>
          </a:ln>
        </p:spPr>
      </p:pic>
      <p:sp>
        <p:nvSpPr>
          <p:cNvPr id="14" name="TextBox 13"/>
          <p:cNvSpPr txBox="1"/>
          <p:nvPr/>
        </p:nvSpPr>
        <p:spPr>
          <a:xfrm>
            <a:off x="8046719" y="3977639"/>
            <a:ext cx="3611880" cy="365760"/>
          </a:xfrm>
          <a:prstGeom prst="rect">
            <a:avLst/>
          </a:prstGeom>
          <a:noFill/>
        </p:spPr>
        <p:txBody>
          <a:bodyPr wrap="square" lIns="0" rIns="0" tIns="0" bIns="0" anchor="t">
            <a:spAutoFit/>
          </a:bodyPr>
          <a:lstStyle/>
          <a:p>
            <a:pPr algn="l"/>
            <a:r>
              <a:rPr sz="2000" b="1" i="0">
                <a:solidFill>
                  <a:srgbClr val="145F4C"/>
                </a:solidFill>
                <a:latin typeface="Georgia"/>
              </a:rPr>
              <a:t>Export</a:t>
            </a:r>
          </a:p>
        </p:txBody>
      </p:sp>
      <p:sp>
        <p:nvSpPr>
          <p:cNvPr id="15" name="TextBox 14"/>
          <p:cNvSpPr txBox="1"/>
          <p:nvPr/>
        </p:nvSpPr>
        <p:spPr>
          <a:xfrm>
            <a:off x="8046719" y="4389120"/>
            <a:ext cx="3611880" cy="822960"/>
          </a:xfrm>
          <a:prstGeom prst="rect">
            <a:avLst/>
          </a:prstGeom>
          <a:noFill/>
        </p:spPr>
        <p:txBody>
          <a:bodyPr wrap="square" lIns="0" rIns="0" tIns="0" bIns="0" anchor="t">
            <a:spAutoFit/>
          </a:bodyPr>
          <a:lstStyle/>
          <a:p>
            <a:pPr algn="l"/>
            <a:r>
              <a:rPr sz="1400" b="0" i="0">
                <a:solidFill>
                  <a:srgbClr val="556760"/>
                </a:solidFill>
                <a:latin typeface="Calibri"/>
              </a:rPr>
              <a:t>Technical check and the “does the story follow the plan?” check</a:t>
            </a:r>
          </a:p>
        </p:txBody>
      </p:sp>
      <p:sp>
        <p:nvSpPr>
          <p:cNvPr id="16" name="Rounded Rectangle 15"/>
          <p:cNvSpPr/>
          <p:nvPr/>
        </p:nvSpPr>
        <p:spPr>
          <a:xfrm>
            <a:off x="4023360" y="5440680"/>
            <a:ext cx="4114800" cy="685800"/>
          </a:xfrm>
          <a:prstGeom prst="roundRect">
            <a:avLst>
              <a:gd name="adj" fmla="val 8000"/>
            </a:avLst>
          </a:prstGeom>
          <a:solidFill>
            <a:srgbClr val="FFFFFF"/>
          </a:solidFill>
          <a:ln w="38100">
            <a:solidFill>
              <a:srgbClr val="D7AC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5440680"/>
            <a:ext cx="4114800" cy="685800"/>
          </a:xfrm>
          <a:prstGeom prst="rect">
            <a:avLst/>
          </a:prstGeom>
          <a:noFill/>
        </p:spPr>
        <p:txBody>
          <a:bodyPr wrap="square" lIns="0" rIns="0" tIns="0" bIns="0" anchor="ctr">
            <a:spAutoFit/>
          </a:bodyPr>
          <a:lstStyle/>
          <a:p>
            <a:pPr algn="ctr"/>
            <a:r>
              <a:rPr sz="1800" b="1" i="0">
                <a:solidFill>
                  <a:srgbClr val="8A6A10"/>
                </a:solidFill>
                <a:latin typeface="Georgia"/>
              </a:rPr>
              <a:t>Nothing is published automatically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06 · MARKET AND USERS</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1:29–2:12</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Who needs it, and where it fits</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Sources: Grand View Research, AI Video Generator Market 2026–2033; Wyzowl 2026; vendor websites (OpusClip, Descript, Synthesia, Panopto). Positioning is our judgement, not a benchmark.</a:t>
            </a:r>
          </a:p>
        </p:txBody>
      </p:sp>
      <p:sp>
        <p:nvSpPr>
          <p:cNvPr id="7" name="TextBox 6"/>
          <p:cNvSpPr txBox="1"/>
          <p:nvPr/>
        </p:nvSpPr>
        <p:spPr>
          <a:xfrm>
            <a:off x="548640" y="1645920"/>
            <a:ext cx="3017520" cy="274320"/>
          </a:xfrm>
          <a:prstGeom prst="rect">
            <a:avLst/>
          </a:prstGeom>
          <a:noFill/>
        </p:spPr>
        <p:txBody>
          <a:bodyPr wrap="square" lIns="0" rIns="0" tIns="0" bIns="0" anchor="t">
            <a:spAutoFit/>
          </a:bodyPr>
          <a:lstStyle/>
          <a:p>
            <a:pPr algn="l"/>
            <a:r>
              <a:rPr sz="1200" b="1" i="0">
                <a:solidFill>
                  <a:srgbClr val="145F4C"/>
                </a:solidFill>
                <a:latin typeface="Calibri"/>
              </a:rPr>
              <a:t>TARGET USERS</a:t>
            </a:r>
          </a:p>
        </p:txBody>
      </p:sp>
      <p:sp>
        <p:nvSpPr>
          <p:cNvPr id="8" name="Rounded Rectangle 7"/>
          <p:cNvSpPr/>
          <p:nvPr/>
        </p:nvSpPr>
        <p:spPr>
          <a:xfrm>
            <a:off x="548640" y="1965960"/>
            <a:ext cx="301752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3120"/>
            <a:ext cx="2651760" cy="731520"/>
          </a:xfrm>
          <a:prstGeom prst="rect">
            <a:avLst/>
          </a:prstGeom>
          <a:noFill/>
        </p:spPr>
        <p:txBody>
          <a:bodyPr wrap="square" lIns="0" rIns="0" tIns="0" bIns="0" anchor="t">
            <a:spAutoFit/>
          </a:bodyPr>
          <a:lstStyle/>
          <a:p>
            <a:pPr algn="l"/>
            <a:r>
              <a:rPr sz="1600" b="1" i="0">
                <a:solidFill>
                  <a:srgbClr val="202D28"/>
                </a:solidFill>
                <a:latin typeface="Calibri"/>
              </a:rPr>
              <a:t>University teaching and communications teams</a:t>
            </a:r>
          </a:p>
        </p:txBody>
      </p:sp>
      <p:sp>
        <p:nvSpPr>
          <p:cNvPr id="10" name="TextBox 9"/>
          <p:cNvSpPr txBox="1"/>
          <p:nvPr/>
        </p:nvSpPr>
        <p:spPr>
          <a:xfrm>
            <a:off x="731520" y="2834639"/>
            <a:ext cx="2651760" cy="274320"/>
          </a:xfrm>
          <a:prstGeom prst="rect">
            <a:avLst/>
          </a:prstGeom>
          <a:noFill/>
        </p:spPr>
        <p:txBody>
          <a:bodyPr wrap="square" lIns="0" rIns="0" tIns="0" bIns="0" anchor="t">
            <a:spAutoFit/>
          </a:bodyPr>
          <a:lstStyle/>
          <a:p>
            <a:pPr algn="l"/>
            <a:r>
              <a:rPr sz="1200" b="0" i="0">
                <a:solidFill>
                  <a:srgbClr val="556760"/>
                </a:solidFill>
                <a:latin typeface="Calibri"/>
              </a:rPr>
              <a:t>Lectures to short explainers</a:t>
            </a:r>
          </a:p>
        </p:txBody>
      </p:sp>
      <p:sp>
        <p:nvSpPr>
          <p:cNvPr id="11" name="Rounded Rectangle 10"/>
          <p:cNvSpPr/>
          <p:nvPr/>
        </p:nvSpPr>
        <p:spPr>
          <a:xfrm>
            <a:off x="548640" y="3337560"/>
            <a:ext cx="301752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74720"/>
            <a:ext cx="2651760" cy="731520"/>
          </a:xfrm>
          <a:prstGeom prst="rect">
            <a:avLst/>
          </a:prstGeom>
          <a:noFill/>
        </p:spPr>
        <p:txBody>
          <a:bodyPr wrap="square" lIns="0" rIns="0" tIns="0" bIns="0" anchor="t">
            <a:spAutoFit/>
          </a:bodyPr>
          <a:lstStyle/>
          <a:p>
            <a:pPr algn="l"/>
            <a:r>
              <a:rPr sz="1600" b="1" i="0">
                <a:solidFill>
                  <a:srgbClr val="202D28"/>
                </a:solidFill>
                <a:latin typeface="Calibri"/>
              </a:rPr>
              <a:t>Corporate learning and development</a:t>
            </a:r>
          </a:p>
        </p:txBody>
      </p:sp>
      <p:sp>
        <p:nvSpPr>
          <p:cNvPr id="13" name="TextBox 12"/>
          <p:cNvSpPr txBox="1"/>
          <p:nvPr/>
        </p:nvSpPr>
        <p:spPr>
          <a:xfrm>
            <a:off x="731520" y="4206240"/>
            <a:ext cx="2651760" cy="274320"/>
          </a:xfrm>
          <a:prstGeom prst="rect">
            <a:avLst/>
          </a:prstGeom>
          <a:noFill/>
        </p:spPr>
        <p:txBody>
          <a:bodyPr wrap="square" lIns="0" rIns="0" tIns="0" bIns="0" anchor="t">
            <a:spAutoFit/>
          </a:bodyPr>
          <a:lstStyle/>
          <a:p>
            <a:pPr algn="l"/>
            <a:r>
              <a:rPr sz="1200" b="0" i="0">
                <a:solidFill>
                  <a:srgbClr val="556760"/>
                </a:solidFill>
                <a:latin typeface="Calibri"/>
              </a:rPr>
              <a:t>Training and briefings</a:t>
            </a:r>
          </a:p>
        </p:txBody>
      </p:sp>
      <p:sp>
        <p:nvSpPr>
          <p:cNvPr id="14" name="Rounded Rectangle 13"/>
          <p:cNvSpPr/>
          <p:nvPr/>
        </p:nvSpPr>
        <p:spPr>
          <a:xfrm>
            <a:off x="548640" y="4709160"/>
            <a:ext cx="301752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46320"/>
            <a:ext cx="2651760" cy="731520"/>
          </a:xfrm>
          <a:prstGeom prst="rect">
            <a:avLst/>
          </a:prstGeom>
          <a:noFill/>
        </p:spPr>
        <p:txBody>
          <a:bodyPr wrap="square" lIns="0" rIns="0" tIns="0" bIns="0" anchor="t">
            <a:spAutoFit/>
          </a:bodyPr>
          <a:lstStyle/>
          <a:p>
            <a:pPr algn="l"/>
            <a:r>
              <a:rPr sz="1600" b="1" i="0">
                <a:solidFill>
                  <a:srgbClr val="202D28"/>
                </a:solidFill>
                <a:latin typeface="Calibri"/>
              </a:rPr>
              <a:t>Research communicators</a:t>
            </a:r>
          </a:p>
        </p:txBody>
      </p:sp>
      <p:sp>
        <p:nvSpPr>
          <p:cNvPr id="16" name="TextBox 15"/>
          <p:cNvSpPr txBox="1"/>
          <p:nvPr/>
        </p:nvSpPr>
        <p:spPr>
          <a:xfrm>
            <a:off x="731520" y="5577840"/>
            <a:ext cx="2651760" cy="274320"/>
          </a:xfrm>
          <a:prstGeom prst="rect">
            <a:avLst/>
          </a:prstGeom>
          <a:noFill/>
        </p:spPr>
        <p:txBody>
          <a:bodyPr wrap="square" lIns="0" rIns="0" tIns="0" bIns="0" anchor="t">
            <a:spAutoFit/>
          </a:bodyPr>
          <a:lstStyle/>
          <a:p>
            <a:pPr algn="l"/>
            <a:r>
              <a:rPr sz="1200" b="0" i="0">
                <a:solidFill>
                  <a:srgbClr val="556760"/>
                </a:solidFill>
                <a:latin typeface="Calibri"/>
              </a:rPr>
              <a:t>Findings for the public</a:t>
            </a:r>
          </a:p>
        </p:txBody>
      </p:sp>
      <p:sp>
        <p:nvSpPr>
          <p:cNvPr id="17" name="TextBox 16"/>
          <p:cNvSpPr txBox="1"/>
          <p:nvPr/>
        </p:nvSpPr>
        <p:spPr>
          <a:xfrm>
            <a:off x="3886200" y="1645920"/>
            <a:ext cx="3931920" cy="274320"/>
          </a:xfrm>
          <a:prstGeom prst="rect">
            <a:avLst/>
          </a:prstGeom>
          <a:noFill/>
        </p:spPr>
        <p:txBody>
          <a:bodyPr wrap="square" lIns="0" rIns="0" tIns="0" bIns="0" anchor="t">
            <a:spAutoFit/>
          </a:bodyPr>
          <a:lstStyle/>
          <a:p>
            <a:pPr algn="l"/>
            <a:r>
              <a:rPr sz="1200" b="1" i="0">
                <a:solidFill>
                  <a:srgbClr val="145F4C"/>
                </a:solidFill>
                <a:latin typeface="Calibri"/>
              </a:rPr>
              <a:t>MARKET: AI VIDEO GENERATORS</a:t>
            </a:r>
          </a:p>
        </p:txBody>
      </p:sp>
      <p:sp>
        <p:nvSpPr>
          <p:cNvPr id="18" name="TextBox 17"/>
          <p:cNvSpPr txBox="1"/>
          <p:nvPr/>
        </p:nvSpPr>
        <p:spPr>
          <a:xfrm>
            <a:off x="3886200" y="2011680"/>
            <a:ext cx="640080" cy="548640"/>
          </a:xfrm>
          <a:prstGeom prst="rect">
            <a:avLst/>
          </a:prstGeom>
          <a:noFill/>
        </p:spPr>
        <p:txBody>
          <a:bodyPr wrap="square" lIns="0" rIns="0" tIns="0" bIns="0" anchor="ctr">
            <a:spAutoFit/>
          </a:bodyPr>
          <a:lstStyle/>
          <a:p>
            <a:pPr algn="l"/>
            <a:r>
              <a:rPr sz="1600" b="1" i="0">
                <a:solidFill>
                  <a:srgbClr val="202D28"/>
                </a:solidFill>
                <a:latin typeface="Calibri"/>
              </a:rPr>
              <a:t>2025</a:t>
            </a:r>
          </a:p>
        </p:txBody>
      </p:sp>
      <p:sp>
        <p:nvSpPr>
          <p:cNvPr id="19" name="Rounded Rectangle 18"/>
          <p:cNvSpPr/>
          <p:nvPr/>
        </p:nvSpPr>
        <p:spPr>
          <a:xfrm>
            <a:off x="4572000" y="2011680"/>
            <a:ext cx="3246120" cy="548640"/>
          </a:xfrm>
          <a:prstGeom prst="roundRect">
            <a:avLst>
              <a:gd name="adj" fmla="val 15000"/>
            </a:avLst>
          </a:prstGeom>
          <a:solidFill>
            <a:srgbClr val="E6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2000" y="2011680"/>
            <a:ext cx="746607" cy="548640"/>
          </a:xfrm>
          <a:prstGeom prst="roundRect">
            <a:avLst>
              <a:gd name="adj" fmla="val 15000"/>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335" y="2011680"/>
            <a:ext cx="2286000" cy="548640"/>
          </a:xfrm>
          <a:prstGeom prst="rect">
            <a:avLst/>
          </a:prstGeom>
          <a:noFill/>
        </p:spPr>
        <p:txBody>
          <a:bodyPr wrap="square" lIns="0" rIns="0" tIns="0" bIns="0" anchor="ctr">
            <a:spAutoFit/>
          </a:bodyPr>
          <a:lstStyle/>
          <a:p>
            <a:pPr algn="l"/>
            <a:r>
              <a:rPr sz="1600" b="1" i="0">
                <a:solidFill>
                  <a:srgbClr val="145F4C"/>
                </a:solidFill>
                <a:latin typeface="Georgia"/>
              </a:rPr>
              <a:t>USD 788.5M</a:t>
            </a:r>
          </a:p>
        </p:txBody>
      </p:sp>
      <p:sp>
        <p:nvSpPr>
          <p:cNvPr id="22" name="TextBox 21"/>
          <p:cNvSpPr txBox="1"/>
          <p:nvPr/>
        </p:nvSpPr>
        <p:spPr>
          <a:xfrm>
            <a:off x="3886200" y="2788920"/>
            <a:ext cx="640080" cy="548640"/>
          </a:xfrm>
          <a:prstGeom prst="rect">
            <a:avLst/>
          </a:prstGeom>
          <a:noFill/>
        </p:spPr>
        <p:txBody>
          <a:bodyPr wrap="square" lIns="0" rIns="0" tIns="0" bIns="0" anchor="ctr">
            <a:spAutoFit/>
          </a:bodyPr>
          <a:lstStyle/>
          <a:p>
            <a:pPr algn="l"/>
            <a:r>
              <a:rPr sz="1600" b="1" i="0">
                <a:solidFill>
                  <a:srgbClr val="202D28"/>
                </a:solidFill>
                <a:latin typeface="Calibri"/>
              </a:rPr>
              <a:t>2033</a:t>
            </a:r>
          </a:p>
        </p:txBody>
      </p:sp>
      <p:sp>
        <p:nvSpPr>
          <p:cNvPr id="23" name="Rounded Rectangle 22"/>
          <p:cNvSpPr/>
          <p:nvPr/>
        </p:nvSpPr>
        <p:spPr>
          <a:xfrm>
            <a:off x="4572000" y="2788920"/>
            <a:ext cx="3246120" cy="548640"/>
          </a:xfrm>
          <a:prstGeom prst="roundRect">
            <a:avLst>
              <a:gd name="adj" fmla="val 15000"/>
            </a:avLst>
          </a:prstGeom>
          <a:solidFill>
            <a:srgbClr val="E6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72000" y="2788920"/>
            <a:ext cx="3246120" cy="548640"/>
          </a:xfrm>
          <a:prstGeom prst="roundRect">
            <a:avLst>
              <a:gd name="adj" fmla="val 15000"/>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788920"/>
            <a:ext cx="3108960" cy="548640"/>
          </a:xfrm>
          <a:prstGeom prst="rect">
            <a:avLst/>
          </a:prstGeom>
          <a:noFill/>
        </p:spPr>
        <p:txBody>
          <a:bodyPr wrap="square" lIns="0" rIns="0" tIns="0" bIns="0" anchor="ctr">
            <a:spAutoFit/>
          </a:bodyPr>
          <a:lstStyle/>
          <a:p>
            <a:pPr algn="r"/>
            <a:r>
              <a:rPr sz="1600" b="1" i="0">
                <a:solidFill>
                  <a:srgbClr val="FFFFFF"/>
                </a:solidFill>
                <a:latin typeface="Georgia"/>
              </a:rPr>
              <a:t>USD 3,441.6M</a:t>
            </a:r>
          </a:p>
        </p:txBody>
      </p:sp>
      <p:sp>
        <p:nvSpPr>
          <p:cNvPr id="26" name="Rounded Rectangle 25"/>
          <p:cNvSpPr/>
          <p:nvPr/>
        </p:nvSpPr>
        <p:spPr>
          <a:xfrm>
            <a:off x="3886200" y="3611880"/>
            <a:ext cx="292608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500" b="1" i="0">
                <a:solidFill>
                  <a:srgbClr val="145F4C"/>
                </a:solidFill>
                <a:latin typeface="Calibri"/>
              </a:rPr>
              <a:t>20.3% a year (2026–2033)</a:t>
            </a:r>
          </a:p>
        </p:txBody>
      </p:sp>
      <p:sp>
        <p:nvSpPr>
          <p:cNvPr id="27" name="Rounded Rectangle 26"/>
          <p:cNvSpPr/>
          <p:nvPr/>
        </p:nvSpPr>
        <p:spPr>
          <a:xfrm>
            <a:off x="3886200" y="4343400"/>
            <a:ext cx="3931920" cy="160020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69080" y="4434840"/>
            <a:ext cx="1463040" cy="914400"/>
          </a:xfrm>
          <a:prstGeom prst="rect">
            <a:avLst/>
          </a:prstGeom>
          <a:noFill/>
        </p:spPr>
        <p:txBody>
          <a:bodyPr wrap="square" lIns="0" rIns="0" tIns="0" bIns="0" anchor="t">
            <a:spAutoFit/>
          </a:bodyPr>
          <a:lstStyle/>
          <a:p>
            <a:pPr algn="l"/>
            <a:r>
              <a:rPr sz="4000" b="1" i="0">
                <a:solidFill>
                  <a:srgbClr val="8A6A10"/>
                </a:solidFill>
                <a:latin typeface="Georgia"/>
              </a:rPr>
              <a:t>63%</a:t>
            </a:r>
          </a:p>
        </p:txBody>
      </p:sp>
      <p:sp>
        <p:nvSpPr>
          <p:cNvPr id="29" name="TextBox 28"/>
          <p:cNvSpPr txBox="1"/>
          <p:nvPr/>
        </p:nvSpPr>
        <p:spPr>
          <a:xfrm>
            <a:off x="4069080" y="5257800"/>
            <a:ext cx="3566160" cy="640080"/>
          </a:xfrm>
          <a:prstGeom prst="rect">
            <a:avLst/>
          </a:prstGeom>
          <a:noFill/>
        </p:spPr>
        <p:txBody>
          <a:bodyPr wrap="square" lIns="0" rIns="0" tIns="0" bIns="0" anchor="t">
            <a:spAutoFit/>
          </a:bodyPr>
          <a:lstStyle/>
          <a:p>
            <a:pPr algn="l"/>
            <a:r>
              <a:rPr sz="1300" b="0" i="0">
                <a:solidFill>
                  <a:srgbClr val="556760"/>
                </a:solidFill>
                <a:latin typeface="Calibri"/>
              </a:rPr>
              <a:t>of video marketers already use AI to make or edit video (51% a year earlier)</a:t>
            </a:r>
          </a:p>
        </p:txBody>
      </p:sp>
      <p:sp>
        <p:nvSpPr>
          <p:cNvPr id="30" name="TextBox 29"/>
          <p:cNvSpPr txBox="1"/>
          <p:nvPr/>
        </p:nvSpPr>
        <p:spPr>
          <a:xfrm>
            <a:off x="8138160" y="1645920"/>
            <a:ext cx="3474720" cy="274320"/>
          </a:xfrm>
          <a:prstGeom prst="rect">
            <a:avLst/>
          </a:prstGeom>
          <a:noFill/>
        </p:spPr>
        <p:txBody>
          <a:bodyPr wrap="square" lIns="0" rIns="0" tIns="0" bIns="0" anchor="t">
            <a:spAutoFit/>
          </a:bodyPr>
          <a:lstStyle/>
          <a:p>
            <a:pPr algn="l"/>
            <a:r>
              <a:rPr sz="1200" b="1" i="0">
                <a:solidFill>
                  <a:srgbClr val="145F4C"/>
                </a:solidFill>
                <a:latin typeface="Calibri"/>
              </a:rPr>
              <a:t>LANDSCAPE</a:t>
            </a:r>
          </a:p>
        </p:txBody>
      </p:sp>
      <p:sp>
        <p:nvSpPr>
          <p:cNvPr id="31" name="Rectangle 30"/>
          <p:cNvSpPr/>
          <p:nvPr/>
        </p:nvSpPr>
        <p:spPr>
          <a:xfrm>
            <a:off x="8138160" y="1965960"/>
            <a:ext cx="3502152" cy="3429000"/>
          </a:xfrm>
          <a:prstGeom prst="rect">
            <a:avLst/>
          </a:prstGeom>
          <a:solidFill>
            <a:srgbClr val="FFFFFF"/>
          </a:solidFill>
          <a:ln w="19050">
            <a:solidFill>
              <a:srgbClr val="202D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80092" y="1965960"/>
            <a:ext cx="18288" cy="3429000"/>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3671316"/>
            <a:ext cx="350215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2011679"/>
            <a:ext cx="1828800" cy="228600"/>
          </a:xfrm>
          <a:prstGeom prst="rect">
            <a:avLst/>
          </a:prstGeom>
          <a:noFill/>
        </p:spPr>
        <p:txBody>
          <a:bodyPr wrap="square" lIns="0" rIns="0" tIns="0" bIns="0" anchor="t">
            <a:spAutoFit/>
          </a:bodyPr>
          <a:lstStyle/>
          <a:p>
            <a:pPr algn="l"/>
            <a:r>
              <a:rPr sz="1000" b="1" i="0">
                <a:solidFill>
                  <a:srgbClr val="556760"/>
                </a:solidFill>
                <a:latin typeface="Calibri"/>
              </a:rPr>
              <a:t>Source-grounded learning</a:t>
            </a:r>
          </a:p>
        </p:txBody>
      </p:sp>
      <p:sp>
        <p:nvSpPr>
          <p:cNvPr id="35" name="TextBox 34"/>
          <p:cNvSpPr txBox="1"/>
          <p:nvPr/>
        </p:nvSpPr>
        <p:spPr>
          <a:xfrm>
            <a:off x="8211312" y="5120640"/>
            <a:ext cx="1828800" cy="228600"/>
          </a:xfrm>
          <a:prstGeom prst="rect">
            <a:avLst/>
          </a:prstGeom>
          <a:noFill/>
        </p:spPr>
        <p:txBody>
          <a:bodyPr wrap="square" lIns="0" rIns="0" tIns="0" bIns="0" anchor="t">
            <a:spAutoFit/>
          </a:bodyPr>
          <a:lstStyle/>
          <a:p>
            <a:pPr algn="l"/>
            <a:r>
              <a:rPr sz="1000" b="1" i="0">
                <a:solidFill>
                  <a:srgbClr val="556760"/>
                </a:solidFill>
                <a:latin typeface="Calibri"/>
              </a:rPr>
              <a:t>Social virality</a:t>
            </a:r>
          </a:p>
        </p:txBody>
      </p:sp>
      <p:sp>
        <p:nvSpPr>
          <p:cNvPr id="36" name="TextBox 35"/>
          <p:cNvSpPr txBox="1"/>
          <p:nvPr/>
        </p:nvSpPr>
        <p:spPr>
          <a:xfrm>
            <a:off x="8138160" y="5440680"/>
            <a:ext cx="1737360" cy="228600"/>
          </a:xfrm>
          <a:prstGeom prst="rect">
            <a:avLst/>
          </a:prstGeom>
          <a:noFill/>
        </p:spPr>
        <p:txBody>
          <a:bodyPr wrap="square" lIns="0" rIns="0" tIns="0" bIns="0" anchor="t">
            <a:spAutoFit/>
          </a:bodyPr>
          <a:lstStyle/>
          <a:p>
            <a:pPr algn="l"/>
            <a:r>
              <a:rPr sz="1000" b="1" i="0">
                <a:solidFill>
                  <a:srgbClr val="556760"/>
                </a:solidFill>
                <a:latin typeface="Calibri"/>
              </a:rPr>
              <a:t>← Fully automatic</a:t>
            </a:r>
          </a:p>
        </p:txBody>
      </p:sp>
      <p:sp>
        <p:nvSpPr>
          <p:cNvPr id="37" name="TextBox 36"/>
          <p:cNvSpPr txBox="1"/>
          <p:nvPr/>
        </p:nvSpPr>
        <p:spPr>
          <a:xfrm>
            <a:off x="9902952" y="5440680"/>
            <a:ext cx="1737360" cy="228600"/>
          </a:xfrm>
          <a:prstGeom prst="rect">
            <a:avLst/>
          </a:prstGeom>
          <a:noFill/>
        </p:spPr>
        <p:txBody>
          <a:bodyPr wrap="square" lIns="0" rIns="0" tIns="0" bIns="0" anchor="t">
            <a:spAutoFit/>
          </a:bodyPr>
          <a:lstStyle/>
          <a:p>
            <a:pPr algn="r"/>
            <a:r>
              <a:rPr sz="1000" b="1" i="0">
                <a:solidFill>
                  <a:srgbClr val="556760"/>
                </a:solidFill>
                <a:latin typeface="Calibri"/>
              </a:rPr>
              <a:t>Human-approved →</a:t>
            </a:r>
          </a:p>
        </p:txBody>
      </p:sp>
      <p:sp>
        <p:nvSpPr>
          <p:cNvPr id="38" name="Rounded Rectangle 37"/>
          <p:cNvSpPr/>
          <p:nvPr/>
        </p:nvSpPr>
        <p:spPr>
          <a:xfrm>
            <a:off x="8333658" y="4341022"/>
            <a:ext cx="914400" cy="292608"/>
          </a:xfrm>
          <a:prstGeom prst="roundRect">
            <a:avLst>
              <a:gd name="adj" fmla="val 50000"/>
            </a:avLst>
          </a:prstGeom>
          <a:solidFill>
            <a:srgbClr val="FFFFFF"/>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202D28"/>
                </a:solidFill>
                <a:latin typeface="Calibri"/>
              </a:rPr>
              <a:t>OpusClip</a:t>
            </a:r>
          </a:p>
        </p:txBody>
      </p:sp>
      <p:sp>
        <p:nvSpPr>
          <p:cNvPr id="39" name="Rounded Rectangle 38"/>
          <p:cNvSpPr/>
          <p:nvPr/>
        </p:nvSpPr>
        <p:spPr>
          <a:xfrm>
            <a:off x="9481962" y="3975628"/>
            <a:ext cx="914400" cy="292608"/>
          </a:xfrm>
          <a:prstGeom prst="roundRect">
            <a:avLst>
              <a:gd name="adj" fmla="val 50000"/>
            </a:avLst>
          </a:prstGeom>
          <a:solidFill>
            <a:srgbClr val="FFFFFF"/>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202D28"/>
                </a:solidFill>
                <a:latin typeface="Calibri"/>
              </a:rPr>
              <a:t>Descript</a:t>
            </a:r>
          </a:p>
        </p:txBody>
      </p:sp>
      <p:sp>
        <p:nvSpPr>
          <p:cNvPr id="40" name="Rounded Rectangle 39"/>
          <p:cNvSpPr/>
          <p:nvPr/>
        </p:nvSpPr>
        <p:spPr>
          <a:xfrm>
            <a:off x="8383584" y="3183940"/>
            <a:ext cx="914400" cy="292608"/>
          </a:xfrm>
          <a:prstGeom prst="roundRect">
            <a:avLst>
              <a:gd name="adj" fmla="val 50000"/>
            </a:avLst>
          </a:prstGeom>
          <a:solidFill>
            <a:srgbClr val="FFFFFF"/>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202D28"/>
                </a:solidFill>
                <a:latin typeface="Calibri"/>
              </a:rPr>
              <a:t>Synthesia</a:t>
            </a:r>
          </a:p>
        </p:txBody>
      </p:sp>
      <p:sp>
        <p:nvSpPr>
          <p:cNvPr id="41" name="Rounded Rectangle 40"/>
          <p:cNvSpPr/>
          <p:nvPr/>
        </p:nvSpPr>
        <p:spPr>
          <a:xfrm>
            <a:off x="9382109" y="3305738"/>
            <a:ext cx="914400" cy="292608"/>
          </a:xfrm>
          <a:prstGeom prst="roundRect">
            <a:avLst>
              <a:gd name="adj" fmla="val 50000"/>
            </a:avLst>
          </a:prstGeom>
          <a:solidFill>
            <a:srgbClr val="FFFFFF"/>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202D28"/>
                </a:solidFill>
                <a:latin typeface="Calibri"/>
              </a:rPr>
              <a:t>Panopto</a:t>
            </a:r>
          </a:p>
        </p:txBody>
      </p:sp>
      <p:sp>
        <p:nvSpPr>
          <p:cNvPr id="42" name="Rounded Rectangle 41"/>
          <p:cNvSpPr/>
          <p:nvPr/>
        </p:nvSpPr>
        <p:spPr>
          <a:xfrm>
            <a:off x="9149120" y="2143170"/>
            <a:ext cx="1554480" cy="384048"/>
          </a:xfrm>
          <a:prstGeom prst="roundRect">
            <a:avLst>
              <a:gd name="adj" fmla="val 50000"/>
            </a:avLst>
          </a:prstGeom>
          <a:solidFill>
            <a:srgbClr val="145F4C"/>
          </a:solidFill>
          <a:ln w="15875">
            <a:solidFill>
              <a:srgbClr val="145F4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300" b="1" i="0">
                <a:solidFill>
                  <a:srgbClr val="FFFFFF"/>
                </a:solidFill>
                <a:latin typeface="Calibri"/>
              </a:rPr>
              <a:t>Brevio Studio</a:t>
            </a:r>
          </a:p>
        </p:txBody>
      </p:sp>
      <p:sp>
        <p:nvSpPr>
          <p:cNvPr id="43" name="TextBox 42"/>
          <p:cNvSpPr txBox="1"/>
          <p:nvPr/>
        </p:nvSpPr>
        <p:spPr>
          <a:xfrm>
            <a:off x="8138160" y="5715000"/>
            <a:ext cx="3502152" cy="274320"/>
          </a:xfrm>
          <a:prstGeom prst="rect">
            <a:avLst/>
          </a:prstGeom>
          <a:noFill/>
        </p:spPr>
        <p:txBody>
          <a:bodyPr wrap="square" lIns="0" rIns="0" tIns="0" bIns="0" anchor="t">
            <a:spAutoFit/>
          </a:bodyPr>
          <a:lstStyle/>
          <a:p>
            <a:pPr algn="l"/>
            <a:r>
              <a:rPr sz="1000" b="0" i="1">
                <a:solidFill>
                  <a:srgbClr val="556760"/>
                </a:solidFill>
                <a:latin typeface="Calibri"/>
              </a:rPr>
              <a:t>Our positioning from vendor descriptions. Not a benchmark.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07 · VALUE PROPOSITION</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2:12–2:38</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Faster. Consistent. Human-led.</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Sources: TechSmith, 2026 Video Statistics (87% prefer a human speaker); Brevio baseline run and 15 Oct 2026 validation (docs/four-week-plan.md, docs/project-overview.html).</a:t>
            </a:r>
          </a:p>
        </p:txBody>
      </p:sp>
      <p:sp>
        <p:nvSpPr>
          <p:cNvPr id="7" name="Rectangle 6"/>
          <p:cNvSpPr/>
          <p:nvPr/>
        </p:nvSpPr>
        <p:spPr>
          <a:xfrm>
            <a:off x="548640" y="1691640"/>
            <a:ext cx="3566160"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3566160" cy="548640"/>
          </a:xfrm>
          <a:prstGeom prst="rect">
            <a:avLst/>
          </a:prstGeom>
          <a:noFill/>
        </p:spPr>
        <p:txBody>
          <a:bodyPr wrap="square" lIns="0" rIns="0" tIns="0" bIns="0" anchor="t">
            <a:spAutoFit/>
          </a:bodyPr>
          <a:lstStyle/>
          <a:p>
            <a:pPr algn="l"/>
            <a:r>
              <a:rPr sz="2400" b="1" i="0">
                <a:solidFill>
                  <a:srgbClr val="202D28"/>
                </a:solidFill>
                <a:latin typeface="Georgia"/>
              </a:rPr>
              <a:t>Faster highlights</a:t>
            </a:r>
          </a:p>
        </p:txBody>
      </p:sp>
      <p:sp>
        <p:nvSpPr>
          <p:cNvPr id="9" name="TextBox 8"/>
          <p:cNvSpPr txBox="1"/>
          <p:nvPr/>
        </p:nvSpPr>
        <p:spPr>
          <a:xfrm>
            <a:off x="548640" y="2651760"/>
            <a:ext cx="3566160" cy="1097280"/>
          </a:xfrm>
          <a:prstGeom prst="rect">
            <a:avLst/>
          </a:prstGeom>
          <a:noFill/>
        </p:spPr>
        <p:txBody>
          <a:bodyPr wrap="square" lIns="0" rIns="0" tIns="0" bIns="0" anchor="t">
            <a:spAutoFit/>
          </a:bodyPr>
          <a:lstStyle/>
          <a:p>
            <a:pPr algn="l"/>
            <a:r>
              <a:rPr sz="6000" b="1" i="0">
                <a:solidFill>
                  <a:srgbClr val="145F4C"/>
                </a:solidFill>
                <a:latin typeface="Georgia"/>
              </a:rPr>
              <a:t>≈5 min</a:t>
            </a:r>
          </a:p>
        </p:txBody>
      </p:sp>
      <p:sp>
        <p:nvSpPr>
          <p:cNvPr id="10" name="TextBox 9"/>
          <p:cNvSpPr txBox="1"/>
          <p:nvPr/>
        </p:nvSpPr>
        <p:spPr>
          <a:xfrm>
            <a:off x="548640" y="3931920"/>
            <a:ext cx="3383280" cy="1188720"/>
          </a:xfrm>
          <a:prstGeom prst="rect">
            <a:avLst/>
          </a:prstGeom>
          <a:noFill/>
        </p:spPr>
        <p:txBody>
          <a:bodyPr wrap="square" lIns="0" rIns="0" tIns="0" bIns="0" anchor="t">
            <a:spAutoFit/>
          </a:bodyPr>
          <a:lstStyle/>
          <a:p>
            <a:pPr algn="l"/>
            <a:r>
              <a:rPr sz="1700" b="0" i="0">
                <a:solidFill>
                  <a:srgbClr val="202D28"/>
                </a:solidFill>
                <a:latin typeface="Calibri"/>
              </a:rPr>
              <a:t>of local processing in our test run on a 15-minute lecture, before human review.</a:t>
            </a:r>
          </a:p>
        </p:txBody>
      </p:sp>
      <p:sp>
        <p:nvSpPr>
          <p:cNvPr id="11" name="TextBox 10"/>
          <p:cNvSpPr txBox="1"/>
          <p:nvPr/>
        </p:nvSpPr>
        <p:spPr>
          <a:xfrm>
            <a:off x="548640" y="5257800"/>
            <a:ext cx="3383280" cy="640080"/>
          </a:xfrm>
          <a:prstGeom prst="rect">
            <a:avLst/>
          </a:prstGeom>
          <a:noFill/>
        </p:spPr>
        <p:txBody>
          <a:bodyPr wrap="square" lIns="0" rIns="0" tIns="0" bIns="0" anchor="t">
            <a:spAutoFit/>
          </a:bodyPr>
          <a:lstStyle/>
          <a:p>
            <a:pPr algn="l"/>
            <a:r>
              <a:rPr sz="1300" b="0" i="0">
                <a:solidFill>
                  <a:srgbClr val="556760"/>
                </a:solidFill>
                <a:latin typeface="Calibri"/>
              </a:rPr>
              <a:t>Time saved versus manual editing is not yet measured.</a:t>
            </a:r>
          </a:p>
        </p:txBody>
      </p:sp>
      <p:sp>
        <p:nvSpPr>
          <p:cNvPr id="12" name="Rectangle 11"/>
          <p:cNvSpPr/>
          <p:nvPr/>
        </p:nvSpPr>
        <p:spPr>
          <a:xfrm>
            <a:off x="4297679" y="1691640"/>
            <a:ext cx="3566160" cy="82296"/>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79" y="1920240"/>
            <a:ext cx="3566160" cy="548640"/>
          </a:xfrm>
          <a:prstGeom prst="rect">
            <a:avLst/>
          </a:prstGeom>
          <a:noFill/>
        </p:spPr>
        <p:txBody>
          <a:bodyPr wrap="square" lIns="0" rIns="0" tIns="0" bIns="0" anchor="t">
            <a:spAutoFit/>
          </a:bodyPr>
          <a:lstStyle/>
          <a:p>
            <a:pPr algn="l"/>
            <a:r>
              <a:rPr sz="2400" b="1" i="0">
                <a:solidFill>
                  <a:srgbClr val="202D28"/>
                </a:solidFill>
                <a:latin typeface="Georgia"/>
              </a:rPr>
              <a:t>Consistent quality</a:t>
            </a:r>
          </a:p>
        </p:txBody>
      </p:sp>
      <p:sp>
        <p:nvSpPr>
          <p:cNvPr id="14" name="TextBox 13"/>
          <p:cNvSpPr txBox="1"/>
          <p:nvPr/>
        </p:nvSpPr>
        <p:spPr>
          <a:xfrm>
            <a:off x="4297679" y="2651760"/>
            <a:ext cx="3566160" cy="1097280"/>
          </a:xfrm>
          <a:prstGeom prst="rect">
            <a:avLst/>
          </a:prstGeom>
          <a:noFill/>
        </p:spPr>
        <p:txBody>
          <a:bodyPr wrap="square" lIns="0" rIns="0" tIns="0" bIns="0" anchor="t">
            <a:spAutoFit/>
          </a:bodyPr>
          <a:lstStyle/>
          <a:p>
            <a:pPr algn="l"/>
            <a:r>
              <a:rPr sz="6000" b="1" i="0">
                <a:solidFill>
                  <a:srgbClr val="8A6A10"/>
                </a:solidFill>
                <a:latin typeface="Georgia"/>
              </a:rPr>
              <a:t>14</a:t>
            </a:r>
          </a:p>
        </p:txBody>
      </p:sp>
      <p:sp>
        <p:nvSpPr>
          <p:cNvPr id="15" name="TextBox 14"/>
          <p:cNvSpPr txBox="1"/>
          <p:nvPr/>
        </p:nvSpPr>
        <p:spPr>
          <a:xfrm>
            <a:off x="4297679" y="3931920"/>
            <a:ext cx="3383280" cy="1188720"/>
          </a:xfrm>
          <a:prstGeom prst="rect">
            <a:avLst/>
          </a:prstGeom>
          <a:noFill/>
        </p:spPr>
        <p:txBody>
          <a:bodyPr wrap="square" lIns="0" rIns="0" tIns="0" bIns="0" anchor="t">
            <a:spAutoFit/>
          </a:bodyPr>
          <a:lstStyle/>
          <a:p>
            <a:pPr algn="l"/>
            <a:r>
              <a:rPr sz="1700" b="0" i="0">
                <a:solidFill>
                  <a:srgbClr val="202D28"/>
                </a:solidFill>
                <a:latin typeface="Calibri"/>
              </a:rPr>
              <a:t>technical measures plus a “story follows the plan” check on every export.</a:t>
            </a:r>
          </a:p>
        </p:txBody>
      </p:sp>
      <p:sp>
        <p:nvSpPr>
          <p:cNvPr id="16" name="Rectangle 15"/>
          <p:cNvSpPr/>
          <p:nvPr/>
        </p:nvSpPr>
        <p:spPr>
          <a:xfrm>
            <a:off x="8046719" y="1691640"/>
            <a:ext cx="3566160" cy="82296"/>
          </a:xfrm>
          <a:prstGeom prst="rect">
            <a:avLst/>
          </a:prstGeom>
          <a:solidFill>
            <a:srgbClr val="A34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9" y="1920240"/>
            <a:ext cx="3566160" cy="548640"/>
          </a:xfrm>
          <a:prstGeom prst="rect">
            <a:avLst/>
          </a:prstGeom>
          <a:noFill/>
        </p:spPr>
        <p:txBody>
          <a:bodyPr wrap="square" lIns="0" rIns="0" tIns="0" bIns="0" anchor="t">
            <a:spAutoFit/>
          </a:bodyPr>
          <a:lstStyle/>
          <a:p>
            <a:pPr algn="l"/>
            <a:r>
              <a:rPr sz="2400" b="1" i="0">
                <a:solidFill>
                  <a:srgbClr val="202D28"/>
                </a:solidFill>
                <a:latin typeface="Georgia"/>
              </a:rPr>
              <a:t>A human in control</a:t>
            </a:r>
          </a:p>
        </p:txBody>
      </p:sp>
      <p:sp>
        <p:nvSpPr>
          <p:cNvPr id="18" name="TextBox 17"/>
          <p:cNvSpPr txBox="1"/>
          <p:nvPr/>
        </p:nvSpPr>
        <p:spPr>
          <a:xfrm>
            <a:off x="8046719" y="2651760"/>
            <a:ext cx="3566160" cy="1097280"/>
          </a:xfrm>
          <a:prstGeom prst="rect">
            <a:avLst/>
          </a:prstGeom>
          <a:noFill/>
        </p:spPr>
        <p:txBody>
          <a:bodyPr wrap="square" lIns="0" rIns="0" tIns="0" bIns="0" anchor="t">
            <a:spAutoFit/>
          </a:bodyPr>
          <a:lstStyle/>
          <a:p>
            <a:pPr algn="l"/>
            <a:r>
              <a:rPr sz="6000" b="1" i="0">
                <a:solidFill>
                  <a:srgbClr val="A34E48"/>
                </a:solidFill>
                <a:latin typeface="Georgia"/>
              </a:rPr>
              <a:t>87%</a:t>
            </a:r>
          </a:p>
        </p:txBody>
      </p:sp>
      <p:sp>
        <p:nvSpPr>
          <p:cNvPr id="19" name="TextBox 18"/>
          <p:cNvSpPr txBox="1"/>
          <p:nvPr/>
        </p:nvSpPr>
        <p:spPr>
          <a:xfrm>
            <a:off x="8046719" y="3931920"/>
            <a:ext cx="3383280" cy="1188720"/>
          </a:xfrm>
          <a:prstGeom prst="rect">
            <a:avLst/>
          </a:prstGeom>
          <a:noFill/>
        </p:spPr>
        <p:txBody>
          <a:bodyPr wrap="square" lIns="0" rIns="0" tIns="0" bIns="0" anchor="t">
            <a:spAutoFit/>
          </a:bodyPr>
          <a:lstStyle/>
          <a:p>
            <a:pPr algn="l"/>
            <a:r>
              <a:rPr sz="1700" b="0" i="0">
                <a:solidFill>
                  <a:srgbClr val="202D28"/>
                </a:solidFill>
                <a:latin typeface="Calibri"/>
              </a:rPr>
              <a:t>of viewers still prefer a human speaker, so the expert’s own voice and words stay central.</a:t>
            </a:r>
          </a:p>
        </p:txBody>
      </p:sp>
      <p:sp>
        <p:nvSpPr>
          <p:cNvPr id="20" name="TextBox 19"/>
          <p:cNvSpPr txBox="1"/>
          <p:nvPr/>
        </p:nvSpPr>
        <p:spPr>
          <a:xfrm>
            <a:off x="8046719" y="5257800"/>
            <a:ext cx="3383280" cy="640080"/>
          </a:xfrm>
          <a:prstGeom prst="rect">
            <a:avLst/>
          </a:prstGeom>
          <a:noFill/>
        </p:spPr>
        <p:txBody>
          <a:bodyPr wrap="square" lIns="0" rIns="0" tIns="0" bIns="0" anchor="t">
            <a:spAutoFit/>
          </a:bodyPr>
          <a:lstStyle/>
          <a:p>
            <a:pPr algn="l"/>
            <a:r>
              <a:rPr sz="1300" b="0" i="0">
                <a:solidFill>
                  <a:srgbClr val="556760"/>
                </a:solidFill>
                <a:latin typeface="Calibri"/>
              </a:rPr>
              <a:t>A named reviewer approves before export.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08 · FEASIBILITY</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2:38–3:07</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It already runs end to end</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Internal measurements: baseline 919.6 s lecture (docs/four-week-plan.md); validation 15 Oct 2026 (docs/project-overview.html). Stage times exclude cloud storyboard, export and human review.</a:t>
            </a:r>
          </a:p>
        </p:txBody>
      </p:sp>
      <p:sp>
        <p:nvSpPr>
          <p:cNvPr id="7" name="TextBox 6"/>
          <p:cNvSpPr txBox="1"/>
          <p:nvPr/>
        </p:nvSpPr>
        <p:spPr>
          <a:xfrm>
            <a:off x="548640" y="1645920"/>
            <a:ext cx="11064240" cy="365760"/>
          </a:xfrm>
          <a:prstGeom prst="rect">
            <a:avLst/>
          </a:prstGeom>
          <a:noFill/>
        </p:spPr>
        <p:txBody>
          <a:bodyPr wrap="square" lIns="0" rIns="0" tIns="0" bIns="0" anchor="t">
            <a:spAutoFit/>
          </a:bodyPr>
          <a:lstStyle/>
          <a:p>
            <a:pPr algn="l"/>
            <a:r>
              <a:rPr sz="1800" b="0" i="0">
                <a:solidFill>
                  <a:srgbClr val="556760"/>
                </a:solidFill>
                <a:latin typeface="Calibri"/>
              </a:rPr>
              <a:t>919.6 s test lecture → </a:t>
            </a:r>
            <a:r>
              <a:rPr sz="1800" b="1" i="0">
                <a:solidFill>
                  <a:srgbClr val="202D28"/>
                </a:solidFill>
                <a:latin typeface="Calibri"/>
              </a:rPr>
              <a:t>298.6 s</a:t>
            </a:r>
            <a:r>
              <a:rPr sz="1800" b="0" i="0">
                <a:solidFill>
                  <a:srgbClr val="556760"/>
                </a:solidFill>
                <a:latin typeface="Calibri"/>
              </a:rPr>
              <a:t> of local processing</a:t>
            </a:r>
          </a:p>
        </p:txBody>
      </p:sp>
      <p:sp>
        <p:nvSpPr>
          <p:cNvPr id="8" name="Rounded Rectangle 7"/>
          <p:cNvSpPr/>
          <p:nvPr/>
        </p:nvSpPr>
        <p:spPr>
          <a:xfrm>
            <a:off x="548640" y="2103120"/>
            <a:ext cx="4439467" cy="731520"/>
          </a:xfrm>
          <a:prstGeom prst="roundRect">
            <a:avLst>
              <a:gd name="adj" fmla="val 10000"/>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03120"/>
            <a:ext cx="4439467" cy="731520"/>
          </a:xfrm>
          <a:prstGeom prst="rect">
            <a:avLst/>
          </a:prstGeom>
          <a:noFill/>
        </p:spPr>
        <p:txBody>
          <a:bodyPr wrap="square" lIns="0" rIns="0" tIns="0" bIns="0" anchor="ctr">
            <a:spAutoFit/>
          </a:bodyPr>
          <a:lstStyle/>
          <a:p>
            <a:pPr algn="ctr"/>
            <a:r>
              <a:rPr sz="1600" b="1" i="0">
                <a:solidFill>
                  <a:srgbClr val="FFFFFF"/>
                </a:solidFill>
                <a:latin typeface="Calibri"/>
              </a:rPr>
              <a:t>Transcribe</a:t>
            </a:r>
          </a:p>
        </p:txBody>
      </p:sp>
      <p:sp>
        <p:nvSpPr>
          <p:cNvPr id="10" name="TextBox 9"/>
          <p:cNvSpPr txBox="1"/>
          <p:nvPr/>
        </p:nvSpPr>
        <p:spPr>
          <a:xfrm>
            <a:off x="548640" y="2880360"/>
            <a:ext cx="4439467" cy="274320"/>
          </a:xfrm>
          <a:prstGeom prst="rect">
            <a:avLst/>
          </a:prstGeom>
          <a:noFill/>
        </p:spPr>
        <p:txBody>
          <a:bodyPr wrap="square" lIns="0" rIns="0" tIns="0" bIns="0" anchor="t">
            <a:spAutoFit/>
          </a:bodyPr>
          <a:lstStyle/>
          <a:p>
            <a:pPr algn="ctr"/>
            <a:r>
              <a:rPr sz="1200" b="0" i="0">
                <a:solidFill>
                  <a:srgbClr val="556760"/>
                </a:solidFill>
                <a:latin typeface="Calibri"/>
              </a:rPr>
              <a:t>120.5 s</a:t>
            </a:r>
          </a:p>
        </p:txBody>
      </p:sp>
      <p:sp>
        <p:nvSpPr>
          <p:cNvPr id="11" name="Rounded Rectangle 10"/>
          <p:cNvSpPr/>
          <p:nvPr/>
        </p:nvSpPr>
        <p:spPr>
          <a:xfrm>
            <a:off x="5024683" y="2103120"/>
            <a:ext cx="4105156" cy="731520"/>
          </a:xfrm>
          <a:prstGeom prst="roundRect">
            <a:avLst>
              <a:gd name="adj" fmla="val 10000"/>
            </a:avLst>
          </a:prstGeom>
          <a:solidFill>
            <a:srgbClr val="2D4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4683" y="2103120"/>
            <a:ext cx="4105156" cy="731520"/>
          </a:xfrm>
          <a:prstGeom prst="rect">
            <a:avLst/>
          </a:prstGeom>
          <a:noFill/>
        </p:spPr>
        <p:txBody>
          <a:bodyPr wrap="square" lIns="0" rIns="0" tIns="0" bIns="0" anchor="ctr">
            <a:spAutoFit/>
          </a:bodyPr>
          <a:lstStyle/>
          <a:p>
            <a:pPr algn="ctr"/>
            <a:r>
              <a:rPr sz="1600" b="1" i="0">
                <a:solidFill>
                  <a:srgbClr val="FFFFFF"/>
                </a:solidFill>
                <a:latin typeface="Calibri"/>
              </a:rPr>
              <a:t>Nominate</a:t>
            </a:r>
          </a:p>
        </p:txBody>
      </p:sp>
      <p:sp>
        <p:nvSpPr>
          <p:cNvPr id="13" name="TextBox 12"/>
          <p:cNvSpPr txBox="1"/>
          <p:nvPr/>
        </p:nvSpPr>
        <p:spPr>
          <a:xfrm>
            <a:off x="5024683" y="2880360"/>
            <a:ext cx="4105156" cy="274320"/>
          </a:xfrm>
          <a:prstGeom prst="rect">
            <a:avLst/>
          </a:prstGeom>
          <a:noFill/>
        </p:spPr>
        <p:txBody>
          <a:bodyPr wrap="square" lIns="0" rIns="0" tIns="0" bIns="0" anchor="t">
            <a:spAutoFit/>
          </a:bodyPr>
          <a:lstStyle/>
          <a:p>
            <a:pPr algn="ctr"/>
            <a:r>
              <a:rPr sz="1200" b="0" i="0">
                <a:solidFill>
                  <a:srgbClr val="556760"/>
                </a:solidFill>
                <a:latin typeface="Calibri"/>
              </a:rPr>
              <a:t>111.5 s</a:t>
            </a:r>
          </a:p>
        </p:txBody>
      </p:sp>
      <p:sp>
        <p:nvSpPr>
          <p:cNvPr id="14" name="Rounded Rectangle 13"/>
          <p:cNvSpPr/>
          <p:nvPr/>
        </p:nvSpPr>
        <p:spPr>
          <a:xfrm>
            <a:off x="9166415" y="2103120"/>
            <a:ext cx="409171" cy="731520"/>
          </a:xfrm>
          <a:prstGeom prst="roundRect">
            <a:avLst>
              <a:gd name="adj" fmla="val 10000"/>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66415" y="2880360"/>
            <a:ext cx="409171" cy="274320"/>
          </a:xfrm>
          <a:prstGeom prst="rect">
            <a:avLst/>
          </a:prstGeom>
          <a:noFill/>
        </p:spPr>
        <p:txBody>
          <a:bodyPr wrap="square" lIns="0" rIns="0" tIns="0" bIns="0" anchor="t">
            <a:spAutoFit/>
          </a:bodyPr>
          <a:lstStyle/>
          <a:p>
            <a:pPr algn="ctr"/>
            <a:r>
              <a:rPr sz="1200" b="0" i="0">
                <a:solidFill>
                  <a:srgbClr val="556760"/>
                </a:solidFill>
                <a:latin typeface="Calibri"/>
              </a:rPr>
              <a:t>12 s</a:t>
            </a:r>
          </a:p>
        </p:txBody>
      </p:sp>
      <p:sp>
        <p:nvSpPr>
          <p:cNvPr id="16" name="Rounded Rectangle 15"/>
          <p:cNvSpPr/>
          <p:nvPr/>
        </p:nvSpPr>
        <p:spPr>
          <a:xfrm>
            <a:off x="9612163" y="2103120"/>
            <a:ext cx="1987858" cy="731520"/>
          </a:xfrm>
          <a:prstGeom prst="roundRect">
            <a:avLst>
              <a:gd name="adj" fmla="val 10000"/>
            </a:avLst>
          </a:prstGeom>
          <a:solidFill>
            <a:srgbClr val="A34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12163" y="2103120"/>
            <a:ext cx="1987858" cy="731520"/>
          </a:xfrm>
          <a:prstGeom prst="rect">
            <a:avLst/>
          </a:prstGeom>
          <a:noFill/>
        </p:spPr>
        <p:txBody>
          <a:bodyPr wrap="square" lIns="0" rIns="0" tIns="0" bIns="0" anchor="ctr">
            <a:spAutoFit/>
          </a:bodyPr>
          <a:lstStyle/>
          <a:p>
            <a:pPr algn="ctr"/>
            <a:r>
              <a:rPr sz="1600" b="1" i="0">
                <a:solidFill>
                  <a:srgbClr val="FFFFFF"/>
                </a:solidFill>
                <a:latin typeface="Calibri"/>
              </a:rPr>
              <a:t>Preview</a:t>
            </a:r>
          </a:p>
        </p:txBody>
      </p:sp>
      <p:sp>
        <p:nvSpPr>
          <p:cNvPr id="18" name="TextBox 17"/>
          <p:cNvSpPr txBox="1"/>
          <p:nvPr/>
        </p:nvSpPr>
        <p:spPr>
          <a:xfrm>
            <a:off x="9612163" y="2880360"/>
            <a:ext cx="1987858" cy="274320"/>
          </a:xfrm>
          <a:prstGeom prst="rect">
            <a:avLst/>
          </a:prstGeom>
          <a:noFill/>
        </p:spPr>
        <p:txBody>
          <a:bodyPr wrap="square" lIns="0" rIns="0" tIns="0" bIns="0" anchor="t">
            <a:spAutoFit/>
          </a:bodyPr>
          <a:lstStyle/>
          <a:p>
            <a:pPr algn="ctr"/>
            <a:r>
              <a:rPr sz="1200" b="0" i="0">
                <a:solidFill>
                  <a:srgbClr val="556760"/>
                </a:solidFill>
                <a:latin typeface="Calibri"/>
              </a:rPr>
              <a:t>54.5 s</a:t>
            </a:r>
          </a:p>
        </p:txBody>
      </p:sp>
      <p:sp>
        <p:nvSpPr>
          <p:cNvPr id="19" name="Rounded Rectangle 18"/>
          <p:cNvSpPr/>
          <p:nvPr/>
        </p:nvSpPr>
        <p:spPr>
          <a:xfrm>
            <a:off x="548640" y="3429000"/>
            <a:ext cx="356616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640080"/>
          </a:xfrm>
          <a:prstGeom prst="rect">
            <a:avLst/>
          </a:prstGeom>
          <a:noFill/>
        </p:spPr>
        <p:txBody>
          <a:bodyPr wrap="square" lIns="0" rIns="0" tIns="0" bIns="0" anchor="t">
            <a:spAutoFit/>
          </a:bodyPr>
          <a:lstStyle/>
          <a:p>
            <a:pPr algn="l"/>
            <a:r>
              <a:rPr sz="3000" b="1" i="0">
                <a:solidFill>
                  <a:srgbClr val="145F4C"/>
                </a:solidFill>
                <a:latin typeface="Georgia"/>
              </a:rPr>
              <a:t>3 audiences</a:t>
            </a:r>
          </a:p>
        </p:txBody>
      </p:sp>
      <p:sp>
        <p:nvSpPr>
          <p:cNvPr id="21" name="TextBox 20"/>
          <p:cNvSpPr txBox="1"/>
          <p:nvPr/>
        </p:nvSpPr>
        <p:spPr>
          <a:xfrm>
            <a:off x="777240" y="4206240"/>
            <a:ext cx="3200400" cy="365760"/>
          </a:xfrm>
          <a:prstGeom prst="rect">
            <a:avLst/>
          </a:prstGeom>
          <a:noFill/>
        </p:spPr>
        <p:txBody>
          <a:bodyPr wrap="square" lIns="0" rIns="0" tIns="0" bIns="0" anchor="t">
            <a:spAutoFit/>
          </a:bodyPr>
          <a:lstStyle/>
          <a:p>
            <a:pPr algn="l"/>
            <a:r>
              <a:rPr sz="1400" b="0" i="0">
                <a:solidFill>
                  <a:srgbClr val="556760"/>
                </a:solidFill>
                <a:latin typeface="Calibri"/>
              </a:rPr>
              <a:t>Researcher, general public, kids</a:t>
            </a:r>
          </a:p>
        </p:txBody>
      </p:sp>
      <p:sp>
        <p:nvSpPr>
          <p:cNvPr id="22" name="Rounded Rectangle 21"/>
          <p:cNvSpPr/>
          <p:nvPr/>
        </p:nvSpPr>
        <p:spPr>
          <a:xfrm>
            <a:off x="4297679" y="3429000"/>
            <a:ext cx="356616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3520440"/>
            <a:ext cx="3200400" cy="640080"/>
          </a:xfrm>
          <a:prstGeom prst="rect">
            <a:avLst/>
          </a:prstGeom>
          <a:noFill/>
        </p:spPr>
        <p:txBody>
          <a:bodyPr wrap="square" lIns="0" rIns="0" tIns="0" bIns="0" anchor="t">
            <a:spAutoFit/>
          </a:bodyPr>
          <a:lstStyle/>
          <a:p>
            <a:pPr algn="l"/>
            <a:r>
              <a:rPr sz="3000" b="1" i="0">
                <a:solidFill>
                  <a:srgbClr val="145F4C"/>
                </a:solidFill>
                <a:latin typeface="Georgia"/>
              </a:rPr>
              <a:t>37.6–45.6 s</a:t>
            </a:r>
          </a:p>
        </p:txBody>
      </p:sp>
      <p:sp>
        <p:nvSpPr>
          <p:cNvPr id="24" name="TextBox 23"/>
          <p:cNvSpPr txBox="1"/>
          <p:nvPr/>
        </p:nvSpPr>
        <p:spPr>
          <a:xfrm>
            <a:off x="4526279" y="4206240"/>
            <a:ext cx="3200400" cy="365760"/>
          </a:xfrm>
          <a:prstGeom prst="rect">
            <a:avLst/>
          </a:prstGeom>
          <a:noFill/>
        </p:spPr>
        <p:txBody>
          <a:bodyPr wrap="square" lIns="0" rIns="0" tIns="0" bIns="0" anchor="t">
            <a:spAutoFit/>
          </a:bodyPr>
          <a:lstStyle/>
          <a:p>
            <a:pPr algn="l"/>
            <a:r>
              <a:rPr sz="1400" b="0" i="0">
                <a:solidFill>
                  <a:srgbClr val="556760"/>
                </a:solidFill>
                <a:latin typeface="Calibri"/>
              </a:rPr>
              <a:t>of finished 1080p video per run</a:t>
            </a:r>
          </a:p>
        </p:txBody>
      </p:sp>
      <p:sp>
        <p:nvSpPr>
          <p:cNvPr id="25" name="Rounded Rectangle 24"/>
          <p:cNvSpPr/>
          <p:nvPr/>
        </p:nvSpPr>
        <p:spPr>
          <a:xfrm>
            <a:off x="8046719" y="3429000"/>
            <a:ext cx="3566160" cy="123444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3520440"/>
            <a:ext cx="3200400" cy="640080"/>
          </a:xfrm>
          <a:prstGeom prst="rect">
            <a:avLst/>
          </a:prstGeom>
          <a:noFill/>
        </p:spPr>
        <p:txBody>
          <a:bodyPr wrap="square" lIns="0" rIns="0" tIns="0" bIns="0" anchor="t">
            <a:spAutoFit/>
          </a:bodyPr>
          <a:lstStyle/>
          <a:p>
            <a:pPr algn="l"/>
            <a:r>
              <a:rPr sz="3000" b="1" i="0">
                <a:solidFill>
                  <a:srgbClr val="145F4C"/>
                </a:solidFill>
                <a:latin typeface="Georgia"/>
              </a:rPr>
              <a:t>14 checks</a:t>
            </a:r>
          </a:p>
        </p:txBody>
      </p:sp>
      <p:sp>
        <p:nvSpPr>
          <p:cNvPr id="27" name="TextBox 26"/>
          <p:cNvSpPr txBox="1"/>
          <p:nvPr/>
        </p:nvSpPr>
        <p:spPr>
          <a:xfrm>
            <a:off x="8275319" y="4206240"/>
            <a:ext cx="3200400" cy="365760"/>
          </a:xfrm>
          <a:prstGeom prst="rect">
            <a:avLst/>
          </a:prstGeom>
          <a:noFill/>
        </p:spPr>
        <p:txBody>
          <a:bodyPr wrap="square" lIns="0" rIns="0" tIns="0" bIns="0" anchor="t">
            <a:spAutoFit/>
          </a:bodyPr>
          <a:lstStyle/>
          <a:p>
            <a:pPr algn="l"/>
            <a:r>
              <a:rPr sz="1400" b="0" i="0">
                <a:solidFill>
                  <a:srgbClr val="556760"/>
                </a:solidFill>
                <a:latin typeface="Calibri"/>
              </a:rPr>
              <a:t>technical measures passed</a:t>
            </a:r>
          </a:p>
        </p:txBody>
      </p:sp>
      <p:sp>
        <p:nvSpPr>
          <p:cNvPr id="28" name="Rounded Rectangle 27"/>
          <p:cNvSpPr/>
          <p:nvPr/>
        </p:nvSpPr>
        <p:spPr>
          <a:xfrm>
            <a:off x="548640" y="4937760"/>
            <a:ext cx="6583680" cy="1188720"/>
          </a:xfrm>
          <a:prstGeom prst="roundRect">
            <a:avLst>
              <a:gd name="adj" fmla="val 8000"/>
            </a:avLst>
          </a:prstGeom>
          <a:solidFill>
            <a:srgbClr val="EEF5F1"/>
          </a:solidFill>
          <a:ln w="19050">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047488"/>
            <a:ext cx="6126480" cy="1005840"/>
          </a:xfrm>
          <a:prstGeom prst="rect">
            <a:avLst/>
          </a:prstGeom>
          <a:noFill/>
        </p:spPr>
        <p:txBody>
          <a:bodyPr wrap="square" lIns="0" rIns="0" tIns="0" bIns="0" anchor="t">
            <a:spAutoFit/>
          </a:bodyPr>
          <a:lstStyle/>
          <a:p>
            <a:pPr algn="l"/>
            <a:r>
              <a:rPr sz="1700" b="1" i="0">
                <a:solidFill>
                  <a:srgbClr val="145F4C"/>
                </a:solidFill>
                <a:latin typeface="Calibri"/>
              </a:rPr>
              <a:t>On your machine</a:t>
            </a:r>
          </a:p>
          <a:p>
            <a:pPr algn="l"/>
            <a:r>
              <a:rPr sz="1600" b="0" i="0">
                <a:solidFill>
                  <a:srgbClr val="202D28"/>
                </a:solidFill>
                <a:latin typeface="Calibri"/>
              </a:rPr>
              <a:t>Transcription, voices and rendering</a:t>
            </a:r>
          </a:p>
        </p:txBody>
      </p:sp>
      <p:sp>
        <p:nvSpPr>
          <p:cNvPr id="30" name="Rounded Rectangle 29"/>
          <p:cNvSpPr/>
          <p:nvPr/>
        </p:nvSpPr>
        <p:spPr>
          <a:xfrm>
            <a:off x="7360920" y="4937760"/>
            <a:ext cx="4279392" cy="1188720"/>
          </a:xfrm>
          <a:prstGeom prst="roundRect">
            <a:avLst>
              <a:gd name="adj" fmla="val 8000"/>
            </a:avLst>
          </a:prstGeom>
          <a:solidFill>
            <a:srgbClr val="FCF5DF"/>
          </a:solidFill>
          <a:ln w="19050">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0" y="5047488"/>
            <a:ext cx="3840480" cy="1005840"/>
          </a:xfrm>
          <a:prstGeom prst="rect">
            <a:avLst/>
          </a:prstGeom>
          <a:noFill/>
        </p:spPr>
        <p:txBody>
          <a:bodyPr wrap="square" lIns="0" rIns="0" tIns="0" bIns="0" anchor="t">
            <a:spAutoFit/>
          </a:bodyPr>
          <a:lstStyle/>
          <a:p>
            <a:pPr algn="l"/>
            <a:r>
              <a:rPr sz="1700" b="1" i="0">
                <a:solidFill>
                  <a:srgbClr val="8A6A10"/>
                </a:solidFill>
                <a:latin typeface="Calibri"/>
              </a:rPr>
              <a:t>Cloud gateway</a:t>
            </a:r>
          </a:p>
          <a:p>
            <a:pPr algn="l"/>
            <a:r>
              <a:rPr sz="1600" b="0" i="0">
                <a:solidFill>
                  <a:srgbClr val="202D28"/>
                </a:solidFill>
                <a:latin typeface="Calibri"/>
              </a:rPr>
              <a:t>Short text requests only, at most 5 per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09 · RISK AWARENESS</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3:08–3:35</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What could go wrong, and what we do</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Sources: Brevio 15 Oct 2026 validation snapshot (docs/project-overview.html); README cloud setup notes (pricing configuration is operator-accepted and unverified).</a:t>
            </a:r>
          </a:p>
        </p:txBody>
      </p:sp>
      <p:sp>
        <p:nvSpPr>
          <p:cNvPr id="7" name="Rectangle 6"/>
          <p:cNvSpPr/>
          <p:nvPr/>
        </p:nvSpPr>
        <p:spPr>
          <a:xfrm>
            <a:off x="548640" y="2359152"/>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45920"/>
            <a:ext cx="4480560" cy="676656"/>
          </a:xfrm>
          <a:prstGeom prst="rect">
            <a:avLst/>
          </a:prstGeom>
          <a:noFill/>
        </p:spPr>
        <p:txBody>
          <a:bodyPr wrap="square" lIns="0" rIns="0" tIns="0" bIns="0" anchor="ctr">
            <a:spAutoFit/>
          </a:bodyPr>
          <a:lstStyle/>
          <a:p>
            <a:pPr algn="l"/>
            <a:r>
              <a:rPr sz="1700" b="1" i="0">
                <a:solidFill>
                  <a:srgbClr val="202D28"/>
                </a:solidFill>
                <a:latin typeface="Calibri"/>
              </a:rPr>
              <a:t>Model summaries can be wrong</a:t>
            </a:r>
          </a:p>
        </p:txBody>
      </p:sp>
      <p:sp>
        <p:nvSpPr>
          <p:cNvPr id="9" name="TextBox 8"/>
          <p:cNvSpPr txBox="1"/>
          <p:nvPr/>
        </p:nvSpPr>
        <p:spPr>
          <a:xfrm>
            <a:off x="5120640" y="1645920"/>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10" name="TextBox 9"/>
          <p:cNvSpPr txBox="1"/>
          <p:nvPr/>
        </p:nvSpPr>
        <p:spPr>
          <a:xfrm>
            <a:off x="5532120" y="1645920"/>
            <a:ext cx="4480560" cy="676656"/>
          </a:xfrm>
          <a:prstGeom prst="rect">
            <a:avLst/>
          </a:prstGeom>
          <a:noFill/>
        </p:spPr>
        <p:txBody>
          <a:bodyPr wrap="square" lIns="0" rIns="0" tIns="0" bIns="0" anchor="ctr">
            <a:spAutoFit/>
          </a:bodyPr>
          <a:lstStyle/>
          <a:p>
            <a:pPr algn="l"/>
            <a:r>
              <a:rPr sz="1500" b="0" i="0">
                <a:solidFill>
                  <a:srgbClr val="556760"/>
                </a:solidFill>
                <a:latin typeface="Calibri"/>
              </a:rPr>
              <a:t>Every claim tied to a quote. Named human approval before export.</a:t>
            </a:r>
          </a:p>
        </p:txBody>
      </p:sp>
      <p:sp>
        <p:nvSpPr>
          <p:cNvPr id="11" name="Rectangle 10"/>
          <p:cNvSpPr/>
          <p:nvPr/>
        </p:nvSpPr>
        <p:spPr>
          <a:xfrm>
            <a:off x="548640" y="3127248"/>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14016"/>
            <a:ext cx="4480560" cy="676656"/>
          </a:xfrm>
          <a:prstGeom prst="rect">
            <a:avLst/>
          </a:prstGeom>
          <a:noFill/>
        </p:spPr>
        <p:txBody>
          <a:bodyPr wrap="square" lIns="0" rIns="0" tIns="0" bIns="0" anchor="ctr">
            <a:spAutoFit/>
          </a:bodyPr>
          <a:lstStyle/>
          <a:p>
            <a:pPr algn="l"/>
            <a:r>
              <a:rPr sz="1700" b="1" i="0">
                <a:solidFill>
                  <a:srgbClr val="202D28"/>
                </a:solidFill>
                <a:latin typeface="Calibri"/>
              </a:rPr>
              <a:t>Caption reading speed failed on lecture excerpts</a:t>
            </a:r>
          </a:p>
        </p:txBody>
      </p:sp>
      <p:sp>
        <p:nvSpPr>
          <p:cNvPr id="13" name="TextBox 12"/>
          <p:cNvSpPr txBox="1"/>
          <p:nvPr/>
        </p:nvSpPr>
        <p:spPr>
          <a:xfrm>
            <a:off x="5120640" y="2414016"/>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14" name="TextBox 13"/>
          <p:cNvSpPr txBox="1"/>
          <p:nvPr/>
        </p:nvSpPr>
        <p:spPr>
          <a:xfrm>
            <a:off x="5532120" y="2414016"/>
            <a:ext cx="4480560" cy="676656"/>
          </a:xfrm>
          <a:prstGeom prst="rect">
            <a:avLst/>
          </a:prstGeom>
          <a:noFill/>
        </p:spPr>
        <p:txBody>
          <a:bodyPr wrap="square" lIns="0" rIns="0" tIns="0" bIns="0" anchor="ctr">
            <a:spAutoFit/>
          </a:bodyPr>
          <a:lstStyle/>
          <a:p>
            <a:pPr algn="l"/>
            <a:r>
              <a:rPr sz="1500" b="0" i="0">
                <a:solidFill>
                  <a:srgbClr val="556760"/>
                </a:solidFill>
                <a:latin typeface="Calibri"/>
              </a:rPr>
              <a:t>Measured, not hidden: reported in every check.</a:t>
            </a:r>
          </a:p>
        </p:txBody>
      </p:sp>
      <p:sp>
        <p:nvSpPr>
          <p:cNvPr id="15" name="Rounded Rectangle 14"/>
          <p:cNvSpPr/>
          <p:nvPr/>
        </p:nvSpPr>
        <p:spPr>
          <a:xfrm>
            <a:off x="10241280" y="2578608"/>
            <a:ext cx="1371600" cy="347472"/>
          </a:xfrm>
          <a:prstGeom prst="roundRect">
            <a:avLst>
              <a:gd name="adj" fmla="val 50000"/>
            </a:avLst>
          </a:prstGeom>
          <a:solidFill>
            <a:srgbClr val="F6E6E4"/>
          </a:solidFill>
          <a:ln w="15875">
            <a:solidFill>
              <a:srgbClr val="D9A8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A34E48"/>
                </a:solidFill>
                <a:latin typeface="Calibri"/>
              </a:rPr>
              <a:t>On the fix list</a:t>
            </a:r>
          </a:p>
        </p:txBody>
      </p:sp>
      <p:sp>
        <p:nvSpPr>
          <p:cNvPr id="16" name="Rectangle 15"/>
          <p:cNvSpPr/>
          <p:nvPr/>
        </p:nvSpPr>
        <p:spPr>
          <a:xfrm>
            <a:off x="548640" y="3895344"/>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182112"/>
            <a:ext cx="4480560" cy="676656"/>
          </a:xfrm>
          <a:prstGeom prst="rect">
            <a:avLst/>
          </a:prstGeom>
          <a:noFill/>
        </p:spPr>
        <p:txBody>
          <a:bodyPr wrap="square" lIns="0" rIns="0" tIns="0" bIns="0" anchor="ctr">
            <a:spAutoFit/>
          </a:bodyPr>
          <a:lstStyle/>
          <a:p>
            <a:pPr algn="l"/>
            <a:r>
              <a:rPr sz="1700" b="1" i="0">
                <a:solidFill>
                  <a:srgbClr val="202D28"/>
                </a:solidFill>
                <a:latin typeface="Calibri"/>
              </a:rPr>
              <a:t>Some older renderer tests still fail</a:t>
            </a:r>
          </a:p>
        </p:txBody>
      </p:sp>
      <p:sp>
        <p:nvSpPr>
          <p:cNvPr id="18" name="TextBox 17"/>
          <p:cNvSpPr txBox="1"/>
          <p:nvPr/>
        </p:nvSpPr>
        <p:spPr>
          <a:xfrm>
            <a:off x="5120640" y="3182112"/>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19" name="TextBox 18"/>
          <p:cNvSpPr txBox="1"/>
          <p:nvPr/>
        </p:nvSpPr>
        <p:spPr>
          <a:xfrm>
            <a:off x="5532120" y="3182112"/>
            <a:ext cx="4480560" cy="676656"/>
          </a:xfrm>
          <a:prstGeom prst="rect">
            <a:avLst/>
          </a:prstGeom>
          <a:noFill/>
        </p:spPr>
        <p:txBody>
          <a:bodyPr wrap="square" lIns="0" rIns="0" tIns="0" bIns="0" anchor="ctr">
            <a:spAutoFit/>
          </a:bodyPr>
          <a:lstStyle/>
          <a:p>
            <a:pPr algn="l"/>
            <a:r>
              <a:rPr sz="1500" b="0" i="0">
                <a:solidFill>
                  <a:srgbClr val="556760"/>
                </a:solidFill>
                <a:latin typeface="Calibri"/>
              </a:rPr>
              <a:t>Seven assertions were open at the 15 Oct snapshot.</a:t>
            </a:r>
          </a:p>
        </p:txBody>
      </p:sp>
      <p:sp>
        <p:nvSpPr>
          <p:cNvPr id="20" name="Rounded Rectangle 19"/>
          <p:cNvSpPr/>
          <p:nvPr/>
        </p:nvSpPr>
        <p:spPr>
          <a:xfrm>
            <a:off x="10241280" y="3346704"/>
            <a:ext cx="1371600" cy="347472"/>
          </a:xfrm>
          <a:prstGeom prst="roundRect">
            <a:avLst>
              <a:gd name="adj" fmla="val 50000"/>
            </a:avLst>
          </a:prstGeom>
          <a:solidFill>
            <a:srgbClr val="F6E6E4"/>
          </a:solidFill>
          <a:ln w="15875">
            <a:solidFill>
              <a:srgbClr val="D9A8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100" b="1" i="0">
                <a:solidFill>
                  <a:srgbClr val="A34E48"/>
                </a:solidFill>
                <a:latin typeface="Calibri"/>
              </a:rPr>
              <a:t>On the fix list</a:t>
            </a:r>
          </a:p>
        </p:txBody>
      </p:sp>
      <p:sp>
        <p:nvSpPr>
          <p:cNvPr id="21" name="Rectangle 20"/>
          <p:cNvSpPr/>
          <p:nvPr/>
        </p:nvSpPr>
        <p:spPr>
          <a:xfrm>
            <a:off x="548640" y="4663440"/>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950208"/>
            <a:ext cx="4480560" cy="676656"/>
          </a:xfrm>
          <a:prstGeom prst="rect">
            <a:avLst/>
          </a:prstGeom>
          <a:noFill/>
        </p:spPr>
        <p:txBody>
          <a:bodyPr wrap="square" lIns="0" rIns="0" tIns="0" bIns="0" anchor="ctr">
            <a:spAutoFit/>
          </a:bodyPr>
          <a:lstStyle/>
          <a:p>
            <a:pPr algn="l"/>
            <a:r>
              <a:rPr sz="1700" b="1" i="0">
                <a:solidFill>
                  <a:srgbClr val="202D28"/>
                </a:solidFill>
                <a:latin typeface="Calibri"/>
              </a:rPr>
              <a:t>No user trial yet</a:t>
            </a:r>
          </a:p>
        </p:txBody>
      </p:sp>
      <p:sp>
        <p:nvSpPr>
          <p:cNvPr id="23" name="TextBox 22"/>
          <p:cNvSpPr txBox="1"/>
          <p:nvPr/>
        </p:nvSpPr>
        <p:spPr>
          <a:xfrm>
            <a:off x="5120640" y="3950208"/>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24" name="TextBox 23"/>
          <p:cNvSpPr txBox="1"/>
          <p:nvPr/>
        </p:nvSpPr>
        <p:spPr>
          <a:xfrm>
            <a:off x="5532120" y="3950208"/>
            <a:ext cx="4480560" cy="676656"/>
          </a:xfrm>
          <a:prstGeom prst="rect">
            <a:avLst/>
          </a:prstGeom>
          <a:noFill/>
        </p:spPr>
        <p:txBody>
          <a:bodyPr wrap="square" lIns="0" rIns="0" tIns="0" bIns="0" anchor="ctr">
            <a:spAutoFit/>
          </a:bodyPr>
          <a:lstStyle/>
          <a:p>
            <a:pPr algn="l"/>
            <a:r>
              <a:rPr sz="1500" b="0" i="0">
                <a:solidFill>
                  <a:srgbClr val="556760"/>
                </a:solidFill>
                <a:latin typeface="Calibri"/>
              </a:rPr>
              <a:t>No time-saving claim. The pilot measures it.</a:t>
            </a:r>
          </a:p>
        </p:txBody>
      </p:sp>
      <p:sp>
        <p:nvSpPr>
          <p:cNvPr id="25" name="Rectangle 24"/>
          <p:cNvSpPr/>
          <p:nvPr/>
        </p:nvSpPr>
        <p:spPr>
          <a:xfrm>
            <a:off x="548640" y="5431536"/>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718304"/>
            <a:ext cx="4480560" cy="676656"/>
          </a:xfrm>
          <a:prstGeom prst="rect">
            <a:avLst/>
          </a:prstGeom>
          <a:noFill/>
        </p:spPr>
        <p:txBody>
          <a:bodyPr wrap="square" lIns="0" rIns="0" tIns="0" bIns="0" anchor="ctr">
            <a:spAutoFit/>
          </a:bodyPr>
          <a:lstStyle/>
          <a:p>
            <a:pPr algn="l"/>
            <a:r>
              <a:rPr sz="1700" b="1" i="0">
                <a:solidFill>
                  <a:srgbClr val="202D28"/>
                </a:solidFill>
                <a:latin typeface="Calibri"/>
              </a:rPr>
              <a:t>Reuse rights and a synthetic voice</a:t>
            </a:r>
          </a:p>
        </p:txBody>
      </p:sp>
      <p:sp>
        <p:nvSpPr>
          <p:cNvPr id="27" name="TextBox 26"/>
          <p:cNvSpPr txBox="1"/>
          <p:nvPr/>
        </p:nvSpPr>
        <p:spPr>
          <a:xfrm>
            <a:off x="5120640" y="4718304"/>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28" name="TextBox 27"/>
          <p:cNvSpPr txBox="1"/>
          <p:nvPr/>
        </p:nvSpPr>
        <p:spPr>
          <a:xfrm>
            <a:off x="5532120" y="4718304"/>
            <a:ext cx="4480560" cy="676656"/>
          </a:xfrm>
          <a:prstGeom prst="rect">
            <a:avLst/>
          </a:prstGeom>
          <a:noFill/>
        </p:spPr>
        <p:txBody>
          <a:bodyPr wrap="square" lIns="0" rIns="0" tIns="0" bIns="0" anchor="ctr">
            <a:spAutoFit/>
          </a:bodyPr>
          <a:lstStyle/>
          <a:p>
            <a:pPr algn="l"/>
            <a:r>
              <a:rPr sz="1500" b="0" i="0">
                <a:solidFill>
                  <a:srgbClr val="556760"/>
                </a:solidFill>
                <a:latin typeface="Calibri"/>
              </a:rPr>
              <a:t>Rights-cleared lectures only; voice disclosed.</a:t>
            </a:r>
          </a:p>
        </p:txBody>
      </p:sp>
      <p:sp>
        <p:nvSpPr>
          <p:cNvPr id="29" name="Rectangle 28"/>
          <p:cNvSpPr/>
          <p:nvPr/>
        </p:nvSpPr>
        <p:spPr>
          <a:xfrm>
            <a:off x="548640" y="6199632"/>
            <a:ext cx="11091672" cy="18288"/>
          </a:xfrm>
          <a:prstGeom prst="rect">
            <a:avLst/>
          </a:prstGeom>
          <a:solidFill>
            <a:srgbClr val="D5D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486400"/>
            <a:ext cx="4480560" cy="676656"/>
          </a:xfrm>
          <a:prstGeom prst="rect">
            <a:avLst/>
          </a:prstGeom>
          <a:noFill/>
        </p:spPr>
        <p:txBody>
          <a:bodyPr wrap="square" lIns="0" rIns="0" tIns="0" bIns="0" anchor="ctr">
            <a:spAutoFit/>
          </a:bodyPr>
          <a:lstStyle/>
          <a:p>
            <a:pPr algn="l"/>
            <a:r>
              <a:rPr sz="1700" b="1" i="0">
                <a:solidFill>
                  <a:srgbClr val="202D28"/>
                </a:solidFill>
                <a:latin typeface="Calibri"/>
              </a:rPr>
              <a:t>Cloud gateway access and pricing unverified</a:t>
            </a:r>
          </a:p>
        </p:txBody>
      </p:sp>
      <p:sp>
        <p:nvSpPr>
          <p:cNvPr id="31" name="TextBox 30"/>
          <p:cNvSpPr txBox="1"/>
          <p:nvPr/>
        </p:nvSpPr>
        <p:spPr>
          <a:xfrm>
            <a:off x="5120640" y="5486400"/>
            <a:ext cx="365760" cy="676656"/>
          </a:xfrm>
          <a:prstGeom prst="rect">
            <a:avLst/>
          </a:prstGeom>
          <a:noFill/>
        </p:spPr>
        <p:txBody>
          <a:bodyPr wrap="square" lIns="0" rIns="0" tIns="0" bIns="0" anchor="ctr">
            <a:spAutoFit/>
          </a:bodyPr>
          <a:lstStyle/>
          <a:p>
            <a:pPr algn="l"/>
            <a:r>
              <a:rPr sz="2000" b="0" i="0">
                <a:solidFill>
                  <a:srgbClr val="556760"/>
                </a:solidFill>
                <a:latin typeface="Calibri"/>
              </a:rPr>
              <a:t>→</a:t>
            </a:r>
          </a:p>
        </p:txBody>
      </p:sp>
      <p:sp>
        <p:nvSpPr>
          <p:cNvPr id="32" name="TextBox 31"/>
          <p:cNvSpPr txBox="1"/>
          <p:nvPr/>
        </p:nvSpPr>
        <p:spPr>
          <a:xfrm>
            <a:off x="5532120" y="5486400"/>
            <a:ext cx="4480560" cy="676656"/>
          </a:xfrm>
          <a:prstGeom prst="rect">
            <a:avLst/>
          </a:prstGeom>
          <a:noFill/>
        </p:spPr>
        <p:txBody>
          <a:bodyPr wrap="square" lIns="0" rIns="0" tIns="0" bIns="0" anchor="ctr">
            <a:spAutoFit/>
          </a:bodyPr>
          <a:lstStyle/>
          <a:p>
            <a:pPr algn="l"/>
            <a:r>
              <a:rPr sz="1500" b="0" i="0">
                <a:solidFill>
                  <a:srgbClr val="556760"/>
                </a:solidFill>
                <a:latin typeface="Calibri"/>
              </a:rPr>
              <a:t>Capped requests; reviewed pricing before the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10 · CALL TO ACTION</a:t>
            </a:r>
          </a:p>
        </p:txBody>
      </p:sp>
      <p:sp>
        <p:nvSpPr>
          <p:cNvPr id="4" name="TextBox 3"/>
          <p:cNvSpPr txBox="1"/>
          <p:nvPr/>
        </p:nvSpPr>
        <p:spPr>
          <a:xfrm>
            <a:off x="9326880" y="256032"/>
            <a:ext cx="2313432" cy="274320"/>
          </a:xfrm>
          <a:prstGeom prst="rect">
            <a:avLst/>
          </a:prstGeom>
          <a:noFill/>
        </p:spPr>
        <p:txBody>
          <a:bodyPr wrap="square" lIns="0" rIns="0" tIns="0" bIns="0" anchor="t">
            <a:spAutoFit/>
          </a:bodyPr>
          <a:lstStyle/>
          <a:p>
            <a:pPr algn="r"/>
            <a:r>
              <a:rPr sz="1200" b="1" i="0">
                <a:solidFill>
                  <a:srgbClr val="556760"/>
                </a:solidFill>
                <a:latin typeface="Calibri"/>
              </a:rPr>
              <a:t>3:35–4:02</a:t>
            </a:r>
          </a:p>
        </p:txBody>
      </p:sp>
      <p:sp>
        <p:nvSpPr>
          <p:cNvPr id="5" name="TextBox 4"/>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Help us prove it in a real pilot</a:t>
            </a:r>
          </a:p>
        </p:txBody>
      </p:sp>
      <p:sp>
        <p:nvSpPr>
          <p:cNvPr id="6" name="TextBox 5"/>
          <p:cNvSpPr txBox="1"/>
          <p:nvPr/>
        </p:nvSpPr>
        <p:spPr>
          <a:xfrm>
            <a:off x="548640" y="6400800"/>
            <a:ext cx="11064240" cy="347472"/>
          </a:xfrm>
          <a:prstGeom prst="rect">
            <a:avLst/>
          </a:prstGeom>
          <a:noFill/>
        </p:spPr>
        <p:txBody>
          <a:bodyPr wrap="square" lIns="0" rIns="0" tIns="0" bIns="0" anchor="t">
            <a:spAutoFit/>
          </a:bodyPr>
          <a:lstStyle/>
          <a:p>
            <a:pPr algn="l"/>
            <a:r>
              <a:rPr sz="950" b="0" i="0">
                <a:solidFill>
                  <a:srgbClr val="556760"/>
                </a:solidFill>
                <a:latin typeface="Calibri"/>
              </a:rPr>
              <a:t>The ask is illustrative, for a course assessment. R&amp;D Tax Incentive: business.gov.au (current rules until 1 July 2028). Voice-over is synthetic (local Kokoro).</a:t>
            </a:r>
          </a:p>
        </p:txBody>
      </p:sp>
      <p:sp>
        <p:nvSpPr>
          <p:cNvPr id="7" name="Rounded Rectangle 6"/>
          <p:cNvSpPr/>
          <p:nvPr/>
        </p:nvSpPr>
        <p:spPr>
          <a:xfrm>
            <a:off x="548640" y="1691640"/>
            <a:ext cx="3566160" cy="301752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3566160"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65960"/>
            <a:ext cx="3017520" cy="274320"/>
          </a:xfrm>
          <a:prstGeom prst="rect">
            <a:avLst/>
          </a:prstGeom>
          <a:noFill/>
        </p:spPr>
        <p:txBody>
          <a:bodyPr wrap="square" lIns="0" rIns="0" tIns="0" bIns="0" anchor="t">
            <a:spAutoFit/>
          </a:bodyPr>
          <a:lstStyle/>
          <a:p>
            <a:pPr algn="l"/>
            <a:r>
              <a:rPr sz="1200" b="1" i="0">
                <a:solidFill>
                  <a:srgbClr val="556760"/>
                </a:solidFill>
                <a:latin typeface="Calibri"/>
              </a:rPr>
              <a:t>FUNDING BODIES</a:t>
            </a:r>
          </a:p>
        </p:txBody>
      </p:sp>
      <p:sp>
        <p:nvSpPr>
          <p:cNvPr id="10" name="TextBox 9"/>
          <p:cNvSpPr txBox="1"/>
          <p:nvPr/>
        </p:nvSpPr>
        <p:spPr>
          <a:xfrm>
            <a:off x="822959" y="2286000"/>
            <a:ext cx="3063240" cy="1188720"/>
          </a:xfrm>
          <a:prstGeom prst="rect">
            <a:avLst/>
          </a:prstGeom>
          <a:noFill/>
        </p:spPr>
        <p:txBody>
          <a:bodyPr wrap="square" lIns="0" rIns="0" tIns="0" bIns="0" anchor="t">
            <a:spAutoFit/>
          </a:bodyPr>
          <a:lstStyle/>
          <a:p>
            <a:pPr algn="l"/>
            <a:r>
              <a:rPr sz="2200" b="1" i="0">
                <a:solidFill>
                  <a:srgbClr val="202D28"/>
                </a:solidFill>
                <a:latin typeface="Georgia"/>
              </a:rPr>
              <a:t>Co-fund a six-month supervised pilot</a:t>
            </a:r>
          </a:p>
        </p:txBody>
      </p:sp>
      <p:sp>
        <p:nvSpPr>
          <p:cNvPr id="11" name="TextBox 10"/>
          <p:cNvSpPr txBox="1"/>
          <p:nvPr/>
        </p:nvSpPr>
        <p:spPr>
          <a:xfrm>
            <a:off x="822959" y="3520440"/>
            <a:ext cx="3063240" cy="640080"/>
          </a:xfrm>
          <a:prstGeom prst="rect">
            <a:avLst/>
          </a:prstGeom>
          <a:noFill/>
        </p:spPr>
        <p:txBody>
          <a:bodyPr wrap="square" lIns="0" rIns="0" tIns="0" bIns="0" anchor="t">
            <a:spAutoFit/>
          </a:bodyPr>
          <a:lstStyle/>
          <a:p>
            <a:pPr algn="l"/>
            <a:r>
              <a:rPr sz="1400" b="0" i="0">
                <a:solidFill>
                  <a:srgbClr val="202D28"/>
                </a:solidFill>
                <a:latin typeface="Calibri"/>
              </a:rPr>
              <a:t>Eligible work may qualify for the R&amp;D Tax Incentive.</a:t>
            </a:r>
          </a:p>
        </p:txBody>
      </p:sp>
      <p:sp>
        <p:nvSpPr>
          <p:cNvPr id="12" name="Rounded Rectangle 11"/>
          <p:cNvSpPr/>
          <p:nvPr/>
        </p:nvSpPr>
        <p:spPr>
          <a:xfrm>
            <a:off x="822959" y="4160520"/>
            <a:ext cx="2377440" cy="347472"/>
          </a:xfrm>
          <a:prstGeom prst="roundRect">
            <a:avLst>
              <a:gd name="adj" fmla="val 50000"/>
            </a:avLst>
          </a:prstGeom>
          <a:solidFill>
            <a:srgbClr val="FCF5DF"/>
          </a:solidFill>
          <a:ln w="15875">
            <a:solidFill>
              <a:srgbClr val="D8BD6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200" b="1" i="0">
                <a:solidFill>
                  <a:srgbClr val="202D28"/>
                </a:solidFill>
                <a:latin typeface="Calibri"/>
              </a:rPr>
              <a:t>Illustrative: AUD 150,000</a:t>
            </a:r>
          </a:p>
        </p:txBody>
      </p:sp>
      <p:sp>
        <p:nvSpPr>
          <p:cNvPr id="13" name="Rounded Rectangle 12"/>
          <p:cNvSpPr/>
          <p:nvPr/>
        </p:nvSpPr>
        <p:spPr>
          <a:xfrm>
            <a:off x="4297679" y="1691640"/>
            <a:ext cx="3566160" cy="301752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79" y="1691640"/>
            <a:ext cx="3566160" cy="82296"/>
          </a:xfrm>
          <a:prstGeom prst="rect">
            <a:avLst/>
          </a:prstGeom>
          <a:solidFill>
            <a:srgbClr val="D7A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1999" y="1965960"/>
            <a:ext cx="3017520" cy="274320"/>
          </a:xfrm>
          <a:prstGeom prst="rect">
            <a:avLst/>
          </a:prstGeom>
          <a:noFill/>
        </p:spPr>
        <p:txBody>
          <a:bodyPr wrap="square" lIns="0" rIns="0" tIns="0" bIns="0" anchor="t">
            <a:spAutoFit/>
          </a:bodyPr>
          <a:lstStyle/>
          <a:p>
            <a:pPr algn="l"/>
            <a:r>
              <a:rPr sz="1200" b="1" i="0">
                <a:solidFill>
                  <a:srgbClr val="556760"/>
                </a:solidFill>
                <a:latin typeface="Calibri"/>
              </a:rPr>
              <a:t>INDUSTRY PARTNERS</a:t>
            </a:r>
          </a:p>
        </p:txBody>
      </p:sp>
      <p:sp>
        <p:nvSpPr>
          <p:cNvPr id="16" name="TextBox 15"/>
          <p:cNvSpPr txBox="1"/>
          <p:nvPr/>
        </p:nvSpPr>
        <p:spPr>
          <a:xfrm>
            <a:off x="4571999" y="2286000"/>
            <a:ext cx="3063240" cy="1188720"/>
          </a:xfrm>
          <a:prstGeom prst="rect">
            <a:avLst/>
          </a:prstGeom>
          <a:noFill/>
        </p:spPr>
        <p:txBody>
          <a:bodyPr wrap="square" lIns="0" rIns="0" tIns="0" bIns="0" anchor="t">
            <a:spAutoFit/>
          </a:bodyPr>
          <a:lstStyle/>
          <a:p>
            <a:pPr algn="l"/>
            <a:r>
              <a:rPr sz="2200" b="1" i="0">
                <a:solidFill>
                  <a:srgbClr val="202D28"/>
                </a:solidFill>
                <a:latin typeface="Georgia"/>
              </a:rPr>
              <a:t>Bring two or three real lectures</a:t>
            </a:r>
          </a:p>
        </p:txBody>
      </p:sp>
      <p:sp>
        <p:nvSpPr>
          <p:cNvPr id="17" name="TextBox 16"/>
          <p:cNvSpPr txBox="1"/>
          <p:nvPr/>
        </p:nvSpPr>
        <p:spPr>
          <a:xfrm>
            <a:off x="4571999" y="3520440"/>
            <a:ext cx="3063240" cy="640080"/>
          </a:xfrm>
          <a:prstGeom prst="rect">
            <a:avLst/>
          </a:prstGeom>
          <a:noFill/>
        </p:spPr>
        <p:txBody>
          <a:bodyPr wrap="square" lIns="0" rIns="0" tIns="0" bIns="0" anchor="t">
            <a:spAutoFit/>
          </a:bodyPr>
          <a:lstStyle/>
          <a:p>
            <a:pPr algn="l"/>
            <a:r>
              <a:rPr sz="1400" b="0" i="0">
                <a:solidFill>
                  <a:srgbClr val="202D28"/>
                </a:solidFill>
                <a:latin typeface="Calibri"/>
              </a:rPr>
              <a:t>Rights-cleared sources, a named reviewer and honest feedback.</a:t>
            </a:r>
          </a:p>
        </p:txBody>
      </p:sp>
      <p:sp>
        <p:nvSpPr>
          <p:cNvPr id="18" name="Rounded Rectangle 17"/>
          <p:cNvSpPr/>
          <p:nvPr/>
        </p:nvSpPr>
        <p:spPr>
          <a:xfrm>
            <a:off x="8046719" y="1691640"/>
            <a:ext cx="3566160" cy="3017520"/>
          </a:xfrm>
          <a:prstGeom prst="roundRect">
            <a:avLst>
              <a:gd name="adj" fmla="val 8000"/>
            </a:avLst>
          </a:prstGeom>
          <a:solidFill>
            <a:srgbClr val="FFFFFF"/>
          </a:solidFill>
          <a:ln w="19050">
            <a:solidFill>
              <a:srgbClr val="D5D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19" y="1691640"/>
            <a:ext cx="3566160" cy="82296"/>
          </a:xfrm>
          <a:prstGeom prst="rect">
            <a:avLst/>
          </a:prstGeom>
          <a:solidFill>
            <a:srgbClr val="A34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965960"/>
            <a:ext cx="3017520" cy="274320"/>
          </a:xfrm>
          <a:prstGeom prst="rect">
            <a:avLst/>
          </a:prstGeom>
          <a:noFill/>
        </p:spPr>
        <p:txBody>
          <a:bodyPr wrap="square" lIns="0" rIns="0" tIns="0" bIns="0" anchor="t">
            <a:spAutoFit/>
          </a:bodyPr>
          <a:lstStyle/>
          <a:p>
            <a:pPr algn="l"/>
            <a:r>
              <a:rPr sz="1200" b="1" i="0">
                <a:solidFill>
                  <a:srgbClr val="556760"/>
                </a:solidFill>
                <a:latin typeface="Calibri"/>
              </a:rPr>
              <a:t>INVESTORS</a:t>
            </a:r>
          </a:p>
        </p:txBody>
      </p:sp>
      <p:sp>
        <p:nvSpPr>
          <p:cNvPr id="21" name="TextBox 20"/>
          <p:cNvSpPr txBox="1"/>
          <p:nvPr/>
        </p:nvSpPr>
        <p:spPr>
          <a:xfrm>
            <a:off x="8321040" y="2286000"/>
            <a:ext cx="3063240" cy="1188720"/>
          </a:xfrm>
          <a:prstGeom prst="rect">
            <a:avLst/>
          </a:prstGeom>
          <a:noFill/>
        </p:spPr>
        <p:txBody>
          <a:bodyPr wrap="square" lIns="0" rIns="0" tIns="0" bIns="0" anchor="t">
            <a:spAutoFit/>
          </a:bodyPr>
          <a:lstStyle/>
          <a:p>
            <a:pPr algn="l"/>
            <a:r>
              <a:rPr sz="2200" b="1" i="0">
                <a:solidFill>
                  <a:srgbClr val="202D28"/>
                </a:solidFill>
                <a:latin typeface="Georgia"/>
              </a:rPr>
              <a:t>A small seed to move from proof of concept to pilots</a:t>
            </a:r>
          </a:p>
        </p:txBody>
      </p:sp>
      <p:sp>
        <p:nvSpPr>
          <p:cNvPr id="22" name="TextBox 21"/>
          <p:cNvSpPr txBox="1"/>
          <p:nvPr/>
        </p:nvSpPr>
        <p:spPr>
          <a:xfrm>
            <a:off x="8321040" y="3520440"/>
            <a:ext cx="3063240" cy="640080"/>
          </a:xfrm>
          <a:prstGeom prst="rect">
            <a:avLst/>
          </a:prstGeom>
          <a:noFill/>
        </p:spPr>
        <p:txBody>
          <a:bodyPr wrap="square" lIns="0" rIns="0" tIns="0" bIns="0" anchor="t">
            <a:spAutoFit/>
          </a:bodyPr>
          <a:lstStyle/>
          <a:p>
            <a:pPr algn="l"/>
            <a:r>
              <a:rPr sz="1400" b="0" i="0">
                <a:solidFill>
                  <a:srgbClr val="202D28"/>
                </a:solidFill>
                <a:latin typeface="Calibri"/>
              </a:rPr>
              <a:t>Supervised, measured, no auto-publishing.</a:t>
            </a:r>
          </a:p>
        </p:txBody>
      </p:sp>
      <p:sp>
        <p:nvSpPr>
          <p:cNvPr id="23" name="TextBox 22"/>
          <p:cNvSpPr txBox="1"/>
          <p:nvPr/>
        </p:nvSpPr>
        <p:spPr>
          <a:xfrm>
            <a:off x="548640" y="5029200"/>
            <a:ext cx="1828800" cy="457200"/>
          </a:xfrm>
          <a:prstGeom prst="rect">
            <a:avLst/>
          </a:prstGeom>
          <a:noFill/>
        </p:spPr>
        <p:txBody>
          <a:bodyPr wrap="square" lIns="0" rIns="0" tIns="0" bIns="0" anchor="ctr">
            <a:spAutoFit/>
          </a:bodyPr>
          <a:lstStyle/>
          <a:p>
            <a:pPr algn="l"/>
            <a:r>
              <a:rPr sz="1800" b="1" i="0">
                <a:solidFill>
                  <a:srgbClr val="202D28"/>
                </a:solidFill>
                <a:latin typeface="Calibri"/>
              </a:rPr>
              <a:t>We will measure:</a:t>
            </a:r>
          </a:p>
        </p:txBody>
      </p:sp>
      <p:sp>
        <p:nvSpPr>
          <p:cNvPr id="24" name="Rounded Rectangle 23"/>
          <p:cNvSpPr/>
          <p:nvPr/>
        </p:nvSpPr>
        <p:spPr>
          <a:xfrm>
            <a:off x="2468880" y="5029200"/>
            <a:ext cx="246888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600" b="1" i="0">
                <a:solidFill>
                  <a:srgbClr val="145F4C"/>
                </a:solidFill>
                <a:latin typeface="Calibri"/>
              </a:rPr>
              <a:t>Time saved</a:t>
            </a:r>
          </a:p>
        </p:txBody>
      </p:sp>
      <p:sp>
        <p:nvSpPr>
          <p:cNvPr id="25" name="Rounded Rectangle 24"/>
          <p:cNvSpPr/>
          <p:nvPr/>
        </p:nvSpPr>
        <p:spPr>
          <a:xfrm>
            <a:off x="5120640" y="5029200"/>
            <a:ext cx="246888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600" b="1" i="0">
                <a:solidFill>
                  <a:srgbClr val="145F4C"/>
                </a:solidFill>
                <a:latin typeface="Calibri"/>
              </a:rPr>
              <a:t>Reviewer approvals</a:t>
            </a:r>
          </a:p>
        </p:txBody>
      </p:sp>
      <p:sp>
        <p:nvSpPr>
          <p:cNvPr id="26" name="Rounded Rectangle 25"/>
          <p:cNvSpPr/>
          <p:nvPr/>
        </p:nvSpPr>
        <p:spPr>
          <a:xfrm>
            <a:off x="7772400" y="5029200"/>
            <a:ext cx="2468880" cy="457200"/>
          </a:xfrm>
          <a:prstGeom prst="roundRect">
            <a:avLst>
              <a:gd name="adj" fmla="val 50000"/>
            </a:avLst>
          </a:prstGeom>
          <a:solidFill>
            <a:srgbClr val="EEF5F1"/>
          </a:solidFill>
          <a:ln w="15875">
            <a:solidFill>
              <a:srgbClr val="B8CEC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1600" b="1" i="0">
                <a:solidFill>
                  <a:srgbClr val="145F4C"/>
                </a:solidFill>
                <a:latin typeface="Calibri"/>
              </a:rPr>
              <a:t>Audience understanding</a:t>
            </a:r>
          </a:p>
        </p:txBody>
      </p:sp>
      <p:sp>
        <p:nvSpPr>
          <p:cNvPr id="27" name="TextBox 26"/>
          <p:cNvSpPr txBox="1"/>
          <p:nvPr/>
        </p:nvSpPr>
        <p:spPr>
          <a:xfrm>
            <a:off x="548640" y="5623560"/>
            <a:ext cx="11064240" cy="731520"/>
          </a:xfrm>
          <a:prstGeom prst="rect">
            <a:avLst/>
          </a:prstGeom>
          <a:noFill/>
        </p:spPr>
        <p:txBody>
          <a:bodyPr wrap="square" lIns="0" rIns="0" tIns="0" bIns="0" anchor="t">
            <a:spAutoFit/>
          </a:bodyPr>
          <a:lstStyle/>
          <a:p>
            <a:pPr algn="l"/>
            <a:r>
              <a:rPr sz="3800" b="1" i="0">
                <a:solidFill>
                  <a:srgbClr val="145F4C"/>
                </a:solidFill>
                <a:latin typeface="Georgia"/>
              </a:rPr>
              <a:t>Try Brevio on one lecture.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45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145F4C"/>
                </a:solidFill>
                <a:latin typeface="Calibri"/>
              </a:rPr>
              <a:t>11 · REFERENCES (APPENDIX)</a:t>
            </a:r>
          </a:p>
        </p:txBody>
      </p:sp>
      <p:sp>
        <p:nvSpPr>
          <p:cNvPr id="4" name="TextBox 3"/>
          <p:cNvSpPr txBox="1"/>
          <p:nvPr/>
        </p:nvSpPr>
        <p:spPr>
          <a:xfrm>
            <a:off x="548640" y="658368"/>
            <a:ext cx="11064240" cy="822960"/>
          </a:xfrm>
          <a:prstGeom prst="rect">
            <a:avLst/>
          </a:prstGeom>
          <a:noFill/>
        </p:spPr>
        <p:txBody>
          <a:bodyPr wrap="square" lIns="0" rIns="0" tIns="0" bIns="0" anchor="ctr">
            <a:spAutoFit/>
          </a:bodyPr>
          <a:lstStyle/>
          <a:p>
            <a:pPr algn="l"/>
            <a:r>
              <a:rPr sz="2800" b="1" i="0">
                <a:solidFill>
                  <a:srgbClr val="202D28"/>
                </a:solidFill>
                <a:latin typeface="Georgia"/>
              </a:rPr>
              <a:t>Sources behind the numbers</a:t>
            </a:r>
          </a:p>
        </p:txBody>
      </p:sp>
      <p:sp>
        <p:nvSpPr>
          <p:cNvPr id="5" name="TextBox 4"/>
          <p:cNvSpPr txBox="1"/>
          <p:nvPr/>
        </p:nvSpPr>
        <p:spPr>
          <a:xfrm>
            <a:off x="548640" y="1645920"/>
            <a:ext cx="11064240" cy="4480560"/>
          </a:xfrm>
          <a:prstGeom prst="rect">
            <a:avLst/>
          </a:prstGeom>
          <a:noFill/>
        </p:spPr>
        <p:txBody>
          <a:bodyPr wrap="square" lIns="0" rIns="0" tIns="0" bIns="0" anchor="t">
            <a:spAutoFit/>
          </a:bodyPr>
          <a:lstStyle/>
          <a:p>
            <a:pPr algn="l"/>
            <a:r>
              <a:rPr sz="1500" b="0" i="0">
                <a:solidFill>
                  <a:srgbClr val="202D28"/>
                </a:solidFill>
                <a:latin typeface="Calibri"/>
              </a:rPr>
              <a:t>•  Guo, P. J., Kim, J. &amp; Rubin, R. (2014). How video production affects student engagement: an empirical study of MOOC videos. L@S ’14. doi 10.1145/2556325.2566239</a:t>
            </a:r>
          </a:p>
          <a:p>
            <a:pPr algn="l"/>
            <a:r>
              <a:rPr sz="1500" b="0" i="0">
                <a:solidFill>
                  <a:srgbClr val="202D28"/>
                </a:solidFill>
                <a:latin typeface="Calibri"/>
              </a:rPr>
              <a:t>•  Wyzowl (2026). State of Video Marketing 2026. 266 respondents, fieldwork late 2025. wyzowl.com/video-marketing-statistics</a:t>
            </a:r>
          </a:p>
          <a:p>
            <a:pPr algn="l"/>
            <a:r>
              <a:rPr sz="1500" b="0" i="0">
                <a:solidFill>
                  <a:srgbClr val="202D28"/>
                </a:solidFill>
                <a:latin typeface="Calibri"/>
              </a:rPr>
              <a:t>•  TechSmith (2026). 2026 Video Statistics: Key Viewer Insights. techsmith.com/blog/video-statistics</a:t>
            </a:r>
          </a:p>
          <a:p>
            <a:pPr algn="l"/>
            <a:r>
              <a:rPr sz="1500" b="0" i="0">
                <a:solidFill>
                  <a:srgbClr val="202D28"/>
                </a:solidFill>
                <a:latin typeface="Calibri"/>
              </a:rPr>
              <a:t>•  Grand View Research (2026). AI Video Generator Market Size, Share &amp; Trends Analysis Report, 2026–2033.</a:t>
            </a:r>
          </a:p>
          <a:p>
            <a:pPr algn="l"/>
            <a:r>
              <a:rPr sz="1500" b="0" i="0">
                <a:solidFill>
                  <a:srgbClr val="202D28"/>
                </a:solidFill>
                <a:latin typeface="Calibri"/>
              </a:rPr>
              <a:t>•  Vendor websites for the landscape view: opus.pro, descript.com, synthesia.io, panopto.com (positioning is our judgement).</a:t>
            </a:r>
          </a:p>
          <a:p>
            <a:pPr algn="l"/>
            <a:r>
              <a:rPr sz="1500" b="0" i="0">
                <a:solidFill>
                  <a:srgbClr val="202D28"/>
                </a:solidFill>
                <a:latin typeface="Calibri"/>
              </a:rPr>
              <a:t>•  Australian Government, business.gov.au: R&amp;D Tax Incentive (current rules until 1 July 2028).</a:t>
            </a:r>
          </a:p>
          <a:p>
            <a:pPr algn="l"/>
            <a:r>
              <a:rPr sz="1500" b="0" i="0">
                <a:solidFill>
                  <a:srgbClr val="202D28"/>
                </a:solidFill>
                <a:latin typeface="Calibri"/>
              </a:rPr>
              <a:t>•  Internal: docs/four-week-plan.md (baseline run) and docs/project-overview.html (15 Oct 2026 validation snapshot).</a:t>
            </a:r>
          </a:p>
          <a:p>
            <a:pPr algn="l"/>
            <a:r>
              <a:rPr sz="1500" b="0" i="0">
                <a:solidFill>
                  <a:srgbClr val="202D28"/>
                </a:solidFill>
                <a:latin typeface="Calibri"/>
              </a:rPr>
              <a:t>•  The funding ask (AUD 150,000, six-month pilot) is illustrative for a course assessment. The voice-over is synthetic.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